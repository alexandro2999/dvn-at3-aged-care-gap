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Australia's Aged Care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5C842"/>
                </a:solidFill>
              </a:rPr>
              <a:t>Where to Build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20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A4D4"/>
                </a:solidFill>
              </a:rPr>
              <a:t>323 SA3 regions  ·  12 quarters  ·  7 datasets  ·  1 critical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DVN AT3 — UTS MDSI Autumn 2026  |  Part 2: Persuasion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Our Stakeholder Lens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C842"/>
                </a:solidFill>
              </a:rPr>
              <a:t>CEO of a mid-size residential aged care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considering where to build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</a:rPr>
              <a:t>This single lens answers three audience questions simultaneously: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3566160" cy="155448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3036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Is care near my family good? How long is the wait?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4754880"/>
            <a:ext cx="3566160" cy="155448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4800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Workers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23036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Where are workers needed? Is the sector growing?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754880"/>
            <a:ext cx="3566160" cy="155448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Investors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23036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Where are the market gaps? What does the landscape look like?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Chapter 1 — 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Which communities have the
worst aged care crisis?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BA4D4"/>
                </a:solidFill>
              </a:rPr>
              <a:t>Take a guess before we show you the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114800"/>
            <a:ext cx="11430000" cy="2194560"/>
          </a:xfrm>
          <a:prstGeom prst="rect">
            <a:avLst/>
          </a:prstGeom>
          <a:solidFill>
            <a:srgbClr val="12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842"/>
                </a:solidFill>
              </a:rPr>
              <a:t>Most people guess: remote outback Australia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A4D4"/>
                </a:solidFill>
              </a:rPr>
              <a:t>MM7 Very Remote quality score: 3.90 stars — the HIGHEST of any band.
The remote crisis is distance and scarcity. Not quality.
The real crisis is somewhere else entirely.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Every top-10 worst region is a major city  [Chapter 1: The Map]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67160" cy="777240"/>
          </a:xfrm>
          <a:prstGeom prst="rect">
            <a:avLst/>
          </a:prstGeom>
          <a:solidFill>
            <a:srgbClr val="E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F6E"/>
                </a:solidFill>
              </a:rPr>
              <a:t>  Unley (SA): Care Gap Index 2.78 — 2.4× the national average of 1.13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  •  All 10 worst SA3 regions are MM1 — major metropolitan areas, not outback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  •  ACT leads state-level care gap at 1.374, driven by highest residential demand in Australia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46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  •  119 SA3 regions lost at least one residential facility since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94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  •  Every state lost beds per 1,000 elderly between 2019 and 2024 (NT worst: −7.4)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212080"/>
            <a:ext cx="11567160" cy="68580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2578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4F3D"/>
                </a:solidFill>
              </a:rPr>
              <a:t>⚠  The crisis is geographic — concentrated in cities, not the outback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[ Insert screenshot: choropleth map + top 10 underserved bar chart — 01_chapter_the_map.ipynb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It's not location. It's who owns the facility.  [Chapter 2: The Correlation]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" y="1371600"/>
            <a:ext cx="3474720" cy="210312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" y="15544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4.21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" y="26060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Government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7116" y="1371600"/>
            <a:ext cx="3474720" cy="21031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7116" y="15544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3.79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7116" y="26060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Not-for-profit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6156" y="1371600"/>
            <a:ext cx="3474720" cy="2103120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6156" y="15544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3.68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6156" y="26060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For-profit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94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  •  Gap of 0.53 pts — stable across every state and remoteness band for 3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97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  •  For-profit owns 43.6% of major city facilities — zero presence in remote areas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  •  Ownership gap holds inside every MMM band — geography is not the confounder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[ Insert screenshot: Average Quality Score by Ownership Type — 02_chapter_the_correlation.ipynb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Efficiency Paradox — more funding, less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67160" cy="777240"/>
          </a:xfrm>
          <a:prstGeom prst="rect">
            <a:avLst/>
          </a:prstGeom>
          <a:solidFill>
            <a:srgbClr val="E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F6E"/>
                </a:solidFill>
              </a:rPr>
              <a:t>  For-profit receives $7.46M per facility — 2.6× more than government ($2.85M) — and returns the lowest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48840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The gap is a STAFFING gap, not an outcomes gap: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70048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  Staffing sub-rating: Government 4.39  vs  For-Profit 2.61  (−1.78 pts)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91256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  Health outcomes (Quality Measures): 3.52 vs 3.51 — virtually identical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12464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33672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4F3D"/>
                </a:solidFill>
              </a:rPr>
              <a:t>External validation: Chu et al. JAMDA 2024 (2,476 facilities):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54879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4F3D"/>
                </a:solidFill>
              </a:rPr>
              <a:t>  For-profit facilities are 8× less likely to achieve 4–5 stars than government-run (OR 0.12)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[ Insert screenshot: Funding per Facility by Org Type — 02_chapter_the_correlation.ipynb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172,285 people stuck at home — clinically assessed as needing a bed  [Chapter 3: The Reveal]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132588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4F3D"/>
                </a:solidFill>
              </a:rPr>
              <a:t>❝  Central Highlands, Tasmania  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56 people.  18 beds.  Pressure ratio: 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  •  58 SA3 regions: high-needs home care demand exceeds available residential places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015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  •  +14 new crisis communities crossed the threshold in 2024 alone; only 4 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6849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  •  59.1% of all 2025 home care approvals are Level 3 or 4 — near-residential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354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  •  438,779 hospital bed-days lost to aged care delays in 2022–23  [external — Aged Care Online, Dec 2025]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[ Insert screenshot: Top 20 SA3 by Waitlist Pressure — 03_chapter_the_reveal.ipynb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Beds are being built — in the wrong places  [Chapter 3: The Reveal]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623560" cy="530352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143000"/>
            <a:ext cx="5623560" cy="530352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4F3D"/>
                </a:solidFill>
              </a:rPr>
              <a:t>CRISIS ZONES (58 SA3 regions)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Lost 551 residential places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2019 →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0098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+14 new crisis zones in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7647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Only 4 resolved their deficit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2744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Net: +10 new crisis zones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0293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in a single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A40"/>
                </a:solidFill>
              </a:rPr>
              <a:t>REST OF AUSTRALIA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Gained 12,027 beds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000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2019 →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254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0098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Supply growing nationally 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7647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flowing to well-served areas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519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2744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Noosa Hinterland QLD: 2.83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0293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Sunshine Coast Hinterland QLD: 2.62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[ Insert screenshot: supply divergence indexed line — 03_chapter_the_reveal.ipynb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Tool — Not a Report. A Decision Support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680960" cy="4983480"/>
          </a:xfrm>
          <a:prstGeom prst="rect">
            <a:avLst/>
          </a:prstGeom>
          <a:solidFill>
            <a:srgbClr val="E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</a:rPr>
              <a:t>[ Insert: Figma mockup screenshot
Chapter 3: The Reveal page
(DVN AT3 Design.pdf, page 5)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234440"/>
            <a:ext cx="3566160" cy="1481328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13258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</a:rPr>
              <a:t>Feature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6184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Context-Aware 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10312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A4D4"/>
                </a:solidFill>
              </a:rPr>
              <a:t>Sidebar selections update
all charts + callout text dynamically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862072"/>
            <a:ext cx="3566160" cy="1481328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9535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</a:rPr>
              <a:t>Feature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32461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What-IF 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730752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A4D4"/>
                </a:solidFill>
              </a:rPr>
              <a:t>Slider: beds/1k target
→ how many SA3s exit the red zone?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4489704"/>
            <a:ext cx="3566160" cy="1481328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458114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</a:rPr>
              <a:t>Feature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48737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Narrative Scrollytelling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5358384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A4D4"/>
                </a:solidFill>
              </a:rPr>
              <a:t>Each section reveals a new
dimension of the waitlist crisis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66360"/>
            <a:ext cx="12188952" cy="169164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Chapter 4 — The Mandate Effect  |  The 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Better on paper.
Not yet in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517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Quality rose 3.40 → 3.65 (+0.25 pts) after Oct 2023 mandate — step-change in every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3375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C842"/>
                </a:solidFill>
              </a:rPr>
              <a:t>⚠️  Health outcomes (Quality Measures): −0.015 pts — resident outcomes flat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0233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9988"/>
                </a:solidFill>
              </a:rPr>
              <a:t>❌  For-profit compliance: 30.2%  vs  Government: 84.1%  — same gap, different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21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3F6E"/>
                </a:solidFill>
              </a:rPr>
              <a:t>Build in the 58 crisis zones.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16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3F6E"/>
                </a:solidFill>
              </a:rPr>
              <a:t>Filter to your state. Filter to your suburb. Make the decision with the actual numbers.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