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70" r:id="rId2"/>
    <p:sldId id="271" r:id="rId3"/>
    <p:sldId id="272" r:id="rId4"/>
    <p:sldId id="285" r:id="rId5"/>
    <p:sldId id="274" r:id="rId6"/>
    <p:sldId id="287" r:id="rId7"/>
    <p:sldId id="291" r:id="rId8"/>
    <p:sldId id="299" r:id="rId9"/>
    <p:sldId id="303" r:id="rId10"/>
    <p:sldId id="279" r:id="rId11"/>
    <p:sldId id="294" r:id="rId12"/>
    <p:sldId id="302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6294261781466507"/>
          <c:y val="6.2597809076682318E-2"/>
          <c:w val="0.80233043082452526"/>
          <c:h val="0.87097026604068861"/>
        </c:manualLayout>
      </c:layout>
      <c:barChart>
        <c:barDir val="bar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30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2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Government</c:v>
                </c:pt>
              </c:strCache>
            </c:strRef>
          </c:tx>
          <c:spPr>
            <a:ln w="38100" cap="flat">
              <a:solidFill>
                <a:srgbClr val="2BA39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BA39B"/>
              </a:solidFill>
              <a:ln w="9525" cap="flat">
                <a:solidFill>
                  <a:srgbClr val="2BA39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May'23</c:v>
                </c:pt>
                <c:pt idx="1">
                  <c:v>Aug'23</c:v>
                </c:pt>
                <c:pt idx="2">
                  <c:v>Dec'23</c:v>
                </c:pt>
                <c:pt idx="3">
                  <c:v>Feb'24</c:v>
                </c:pt>
                <c:pt idx="4">
                  <c:v>May'24</c:v>
                </c:pt>
                <c:pt idx="5">
                  <c:v>Jul'24</c:v>
                </c:pt>
                <c:pt idx="6">
                  <c:v>Nov'24</c:v>
                </c:pt>
                <c:pt idx="7">
                  <c:v>Feb'25</c:v>
                </c:pt>
                <c:pt idx="8">
                  <c:v>May'25</c:v>
                </c:pt>
                <c:pt idx="9">
                  <c:v>Aug'25</c:v>
                </c:pt>
                <c:pt idx="10">
                  <c:v>Oct'25</c:v>
                </c:pt>
                <c:pt idx="11">
                  <c:v>Feb'26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3.78</c:v>
                </c:pt>
                <c:pt idx="1">
                  <c:v>3.82</c:v>
                </c:pt>
                <c:pt idx="2">
                  <c:v>4</c:v>
                </c:pt>
                <c:pt idx="3">
                  <c:v>4.0599999999999996</c:v>
                </c:pt>
                <c:pt idx="4">
                  <c:v>4.0199999999999996</c:v>
                </c:pt>
                <c:pt idx="5">
                  <c:v>4.0599999999999996</c:v>
                </c:pt>
                <c:pt idx="6">
                  <c:v>4.04</c:v>
                </c:pt>
                <c:pt idx="7">
                  <c:v>4.07</c:v>
                </c:pt>
                <c:pt idx="8">
                  <c:v>4.05</c:v>
                </c:pt>
                <c:pt idx="9">
                  <c:v>4.0599999999999996</c:v>
                </c:pt>
                <c:pt idx="10">
                  <c:v>4.07</c:v>
                </c:pt>
                <c:pt idx="11">
                  <c:v>4.07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6B-40C8-8467-D4765EB672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Not-for-profit</c:v>
                </c:pt>
              </c:strCache>
            </c:strRef>
          </c:tx>
          <c:spPr>
            <a:ln w="38100" cap="flat">
              <a:solidFill>
                <a:srgbClr val="1B3F6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3F66"/>
              </a:solidFill>
              <a:ln w="9525" cap="flat">
                <a:solidFill>
                  <a:srgbClr val="1B3F6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May'23</c:v>
                </c:pt>
                <c:pt idx="1">
                  <c:v>Aug'23</c:v>
                </c:pt>
                <c:pt idx="2">
                  <c:v>Dec'23</c:v>
                </c:pt>
                <c:pt idx="3">
                  <c:v>Feb'24</c:v>
                </c:pt>
                <c:pt idx="4">
                  <c:v>May'24</c:v>
                </c:pt>
                <c:pt idx="5">
                  <c:v>Jul'24</c:v>
                </c:pt>
                <c:pt idx="6">
                  <c:v>Nov'24</c:v>
                </c:pt>
                <c:pt idx="7">
                  <c:v>Feb'25</c:v>
                </c:pt>
                <c:pt idx="8">
                  <c:v>May'25</c:v>
                </c:pt>
                <c:pt idx="9">
                  <c:v>Aug'25</c:v>
                </c:pt>
                <c:pt idx="10">
                  <c:v>Oct'25</c:v>
                </c:pt>
                <c:pt idx="11">
                  <c:v>Feb'26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3.34</c:v>
                </c:pt>
                <c:pt idx="1">
                  <c:v>3.38</c:v>
                </c:pt>
                <c:pt idx="2">
                  <c:v>3.55</c:v>
                </c:pt>
                <c:pt idx="3">
                  <c:v>3.52</c:v>
                </c:pt>
                <c:pt idx="4">
                  <c:v>3.54</c:v>
                </c:pt>
                <c:pt idx="5">
                  <c:v>3.56</c:v>
                </c:pt>
                <c:pt idx="6">
                  <c:v>3.52</c:v>
                </c:pt>
                <c:pt idx="7">
                  <c:v>3.58</c:v>
                </c:pt>
                <c:pt idx="8">
                  <c:v>3.56</c:v>
                </c:pt>
                <c:pt idx="9">
                  <c:v>3.59</c:v>
                </c:pt>
                <c:pt idx="10">
                  <c:v>3.58</c:v>
                </c:pt>
                <c:pt idx="11">
                  <c:v>3.61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6B-40C8-8467-D4765EB6725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For-profit</c:v>
                </c:pt>
              </c:strCache>
            </c:strRef>
          </c:tx>
          <c:spPr>
            <a:ln w="38100" cap="flat">
              <a:solidFill>
                <a:srgbClr val="D85A4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85A4E"/>
              </a:solidFill>
              <a:ln w="9525" cap="flat">
                <a:solidFill>
                  <a:srgbClr val="D85A4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May'23</c:v>
                </c:pt>
                <c:pt idx="1">
                  <c:v>Aug'23</c:v>
                </c:pt>
                <c:pt idx="2">
                  <c:v>Dec'23</c:v>
                </c:pt>
                <c:pt idx="3">
                  <c:v>Feb'24</c:v>
                </c:pt>
                <c:pt idx="4">
                  <c:v>May'24</c:v>
                </c:pt>
                <c:pt idx="5">
                  <c:v>Jul'24</c:v>
                </c:pt>
                <c:pt idx="6">
                  <c:v>Nov'24</c:v>
                </c:pt>
                <c:pt idx="7">
                  <c:v>Feb'25</c:v>
                </c:pt>
                <c:pt idx="8">
                  <c:v>May'25</c:v>
                </c:pt>
                <c:pt idx="9">
                  <c:v>Aug'25</c:v>
                </c:pt>
                <c:pt idx="10">
                  <c:v>Oct'25</c:v>
                </c:pt>
                <c:pt idx="11">
                  <c:v>Feb'26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3.2</c:v>
                </c:pt>
                <c:pt idx="1">
                  <c:v>3.25</c:v>
                </c:pt>
                <c:pt idx="2">
                  <c:v>3.45</c:v>
                </c:pt>
                <c:pt idx="3">
                  <c:v>3.43</c:v>
                </c:pt>
                <c:pt idx="4">
                  <c:v>3.45</c:v>
                </c:pt>
                <c:pt idx="5">
                  <c:v>3.46</c:v>
                </c:pt>
                <c:pt idx="6">
                  <c:v>3.43</c:v>
                </c:pt>
                <c:pt idx="7">
                  <c:v>3.47</c:v>
                </c:pt>
                <c:pt idx="8">
                  <c:v>3.45</c:v>
                </c:pt>
                <c:pt idx="9">
                  <c:v>3.48</c:v>
                </c:pt>
                <c:pt idx="10">
                  <c:v>3.46</c:v>
                </c:pt>
                <c:pt idx="11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26B-40C8-8467-D4765EB672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2"/>
          <c:min val="3"/>
        </c:scaling>
        <c:delete val="0"/>
        <c:axPos val="l"/>
        <c:majorGridlines>
          <c:spPr>
            <a:ln w="6350" cap="flat">
              <a:solidFill>
                <a:srgbClr val="E8E2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1304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Ratio (high-needs ÷ beds)</c:v>
                </c:pt>
              </c:strCache>
            </c:strRef>
          </c:tx>
          <c:spPr>
            <a:solidFill>
              <a:srgbClr val="D85A4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1304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Central Highlands (TAS)</c:v>
                </c:pt>
                <c:pt idx="1">
                  <c:v>Noosa Hinterland (QLD)</c:v>
                </c:pt>
                <c:pt idx="2">
                  <c:v>Sunshine Coast Hinterland (QLD)</c:v>
                </c:pt>
                <c:pt idx="3">
                  <c:v>Wheat Belt – North (WA)</c:v>
                </c:pt>
                <c:pt idx="4">
                  <c:v>Gympie – Cooloola (QLD)</c:v>
                </c:pt>
                <c:pt idx="5">
                  <c:v>The Hills District (QLD)</c:v>
                </c:pt>
                <c:pt idx="6">
                  <c:v>Kwinana (WA)</c:v>
                </c:pt>
                <c:pt idx="7">
                  <c:v>Mundaring (WA)</c:v>
                </c:pt>
                <c:pt idx="8">
                  <c:v>Surfers Paradise (QLD)</c:v>
                </c:pt>
                <c:pt idx="9">
                  <c:v>Carlingford (NSW)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3.11</c:v>
                </c:pt>
                <c:pt idx="1">
                  <c:v>2.83</c:v>
                </c:pt>
                <c:pt idx="2">
                  <c:v>2.62</c:v>
                </c:pt>
                <c:pt idx="3">
                  <c:v>2.61</c:v>
                </c:pt>
                <c:pt idx="4">
                  <c:v>2.3199999999999998</c:v>
                </c:pt>
                <c:pt idx="5">
                  <c:v>2.0299999999999998</c:v>
                </c:pt>
                <c:pt idx="6">
                  <c:v>2.02</c:v>
                </c:pt>
                <c:pt idx="7">
                  <c:v>1.68</c:v>
                </c:pt>
                <c:pt idx="8">
                  <c:v>1.63</c:v>
                </c:pt>
                <c:pt idx="9">
                  <c:v>1.51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12-4F72-B118-95668AD748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30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b"/>
        <c:majorGridlines>
          <c:spPr>
            <a:ln w="6350" cap="flat">
              <a:solidFill>
                <a:srgbClr val="E8E2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National avg ★</c:v>
                </c:pt>
              </c:strCache>
            </c:strRef>
          </c:tx>
          <c:spPr>
            <a:ln w="38100" cap="flat">
              <a:solidFill>
                <a:srgbClr val="1B3F66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B3F66"/>
              </a:solidFill>
              <a:ln w="9525" cap="flat">
                <a:solidFill>
                  <a:srgbClr val="1B3F6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May'23</c:v>
                </c:pt>
                <c:pt idx="1">
                  <c:v>Aug'23</c:v>
                </c:pt>
                <c:pt idx="2">
                  <c:v>Dec'23</c:v>
                </c:pt>
                <c:pt idx="3">
                  <c:v>Feb'24</c:v>
                </c:pt>
                <c:pt idx="4">
                  <c:v>May'24</c:v>
                </c:pt>
                <c:pt idx="5">
                  <c:v>Jul'24</c:v>
                </c:pt>
                <c:pt idx="6">
                  <c:v>Nov'24</c:v>
                </c:pt>
                <c:pt idx="7">
                  <c:v>Feb'25</c:v>
                </c:pt>
                <c:pt idx="8">
                  <c:v>May'25</c:v>
                </c:pt>
                <c:pt idx="9">
                  <c:v>Aug'25</c:v>
                </c:pt>
                <c:pt idx="10">
                  <c:v>Oct'25</c:v>
                </c:pt>
                <c:pt idx="11">
                  <c:v>Feb'26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3.4</c:v>
                </c:pt>
                <c:pt idx="1">
                  <c:v>3.41</c:v>
                </c:pt>
                <c:pt idx="2">
                  <c:v>3.58</c:v>
                </c:pt>
                <c:pt idx="3">
                  <c:v>3.62</c:v>
                </c:pt>
                <c:pt idx="4">
                  <c:v>3.64</c:v>
                </c:pt>
                <c:pt idx="5">
                  <c:v>3.65</c:v>
                </c:pt>
                <c:pt idx="6">
                  <c:v>3.66</c:v>
                </c:pt>
                <c:pt idx="7">
                  <c:v>3.65</c:v>
                </c:pt>
                <c:pt idx="8">
                  <c:v>3.65</c:v>
                </c:pt>
                <c:pt idx="9">
                  <c:v>3.66</c:v>
                </c:pt>
                <c:pt idx="10">
                  <c:v>3.65</c:v>
                </c:pt>
                <c:pt idx="11">
                  <c:v>3.65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BB-470B-934D-4430D174CD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A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8"/>
          <c:min val="3.3"/>
        </c:scaling>
        <c:delete val="0"/>
        <c:axPos val="l"/>
        <c:majorGridlines>
          <c:spPr>
            <a:ln w="6350" cap="flat">
              <a:solidFill>
                <a:srgbClr val="E8E2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01269CBD-A434-BAAA-6BE1-FCAF9398A33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2773025" cy="8143875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71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5A6E"/>
                </a:solidFill>
                <a:latin typeface="Inter"/>
              </a:rPr>
              <a:t>DVN · AT3 · THE DETECTIVE BRIEF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207447" y="274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11304E"/>
                </a:solidFill>
                <a:latin typeface="Inter"/>
              </a:rPr>
              <a:t>01 / 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12648" y="1783080"/>
            <a:ext cx="73152" cy="73152"/>
          </a:xfrm>
          <a:prstGeom prst="rect">
            <a:avLst/>
          </a:prstGeom>
          <a:solidFill>
            <a:srgbClr val="D9A53B"/>
          </a:solidFill>
          <a:ln w="12700">
            <a:solidFill>
              <a:srgbClr val="D9A53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95528" y="1691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5A6E"/>
                </a:solidFill>
                <a:latin typeface="Inter"/>
              </a:rPr>
              <a:t>AUSTRALIA  ·  AGED CARE  ·  </a:t>
            </a:r>
            <a:r>
              <a:rPr lang="vi-VN" sz="1100" b="1" kern="0" spc="400" dirty="0">
                <a:solidFill>
                  <a:srgbClr val="4A5A6E"/>
                </a:solidFill>
                <a:latin typeface="Inter"/>
              </a:rPr>
              <a:t>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05740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dirty="0">
                <a:solidFill>
                  <a:srgbClr val="11304E"/>
                </a:solidFill>
                <a:latin typeface="Montserrat"/>
              </a:rPr>
              <a:t>Australia's</a:t>
            </a:r>
            <a:endParaRPr lang="en-US" sz="8000" dirty="0"/>
          </a:p>
          <a:p>
            <a:pPr marL="0" indent="0">
              <a:buNone/>
            </a:pPr>
            <a:r>
              <a:rPr lang="en-US" sz="8000" dirty="0">
                <a:solidFill>
                  <a:srgbClr val="11304E"/>
                </a:solidFill>
                <a:latin typeface="Montserrat"/>
              </a:rPr>
              <a:t>Aged Care </a:t>
            </a:r>
            <a:r>
              <a:rPr lang="en-US" sz="8000" dirty="0">
                <a:solidFill>
                  <a:srgbClr val="D9A53B"/>
                </a:solidFill>
                <a:latin typeface="Montserrat"/>
              </a:rPr>
              <a:t>Gap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12648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4A5A6E"/>
                </a:solidFill>
                <a:latin typeface="Inter"/>
              </a:rPr>
              <a:t>A nation-scale lens on quality, supply and the regions in crisis.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2648" y="5577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A8595"/>
                </a:solidFill>
                <a:latin typeface="Inter"/>
              </a:rPr>
              <a:t>REGIONS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5779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304E"/>
                </a:solidFill>
                <a:latin typeface="Inter"/>
              </a:rPr>
              <a:t>323 SA3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5577840"/>
            <a:ext cx="0" cy="640080"/>
          </a:xfrm>
          <a:prstGeom prst="line">
            <a:avLst/>
          </a:prstGeom>
          <a:noFill/>
          <a:ln w="9525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2395728" y="5577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A8595"/>
                </a:solidFill>
                <a:latin typeface="Inter"/>
              </a:rPr>
              <a:t>SPAN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95728" y="5779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304E"/>
                </a:solidFill>
                <a:latin typeface="Inter"/>
              </a:rPr>
              <a:t>12 quarters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69080" y="5577840"/>
            <a:ext cx="0" cy="640080"/>
          </a:xfrm>
          <a:prstGeom prst="line">
            <a:avLst/>
          </a:prstGeom>
          <a:noFill/>
          <a:ln w="9525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4178808" y="5577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A8595"/>
                </a:solidFill>
                <a:latin typeface="Inter"/>
              </a:rPr>
              <a:t>DATASETS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78808" y="5779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304E"/>
                </a:solidFill>
                <a:latin typeface="Inter"/>
              </a:rPr>
              <a:t>7 sources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52160" y="5577840"/>
            <a:ext cx="0" cy="640080"/>
          </a:xfrm>
          <a:prstGeom prst="line">
            <a:avLst/>
          </a:prstGeom>
          <a:noFill/>
          <a:ln w="9525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5961888" y="5577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A8595"/>
                </a:solidFill>
                <a:latin typeface="Inter"/>
              </a:rPr>
              <a:t>LENS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61888" y="5779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304E"/>
                </a:solidFill>
                <a:latin typeface="Inter"/>
              </a:rPr>
              <a:t>NFP CEO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21447" y="5623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4A5A6E"/>
                </a:solidFill>
                <a:latin typeface="Inter"/>
              </a:rPr>
              <a:t>UTS · MDSI · Autumn 2026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" y="6583680"/>
            <a:ext cx="54864" cy="54864"/>
          </a:xfrm>
          <a:prstGeom prst="ellipse">
            <a:avLst/>
          </a:prstGeom>
          <a:solidFill>
            <a:srgbClr val="11304E"/>
          </a:solidFill>
          <a:ln w="12700">
            <a:solidFill>
              <a:srgbClr val="1130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DVN AT3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07447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01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16278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5A6E"/>
                </a:solidFill>
                <a:latin typeface="Inter"/>
              </a:rPr>
              <a:t>FRAME · THE HAT WE'RE WEARING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207447" y="274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11304E"/>
                </a:solidFill>
                <a:latin typeface="Inter"/>
              </a:rPr>
              <a:t>02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6E"/>
                </a:solidFill>
                <a:latin typeface="Inter"/>
              </a:rPr>
              <a:t>§ STAKEHOLDER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2648" y="14173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1304E"/>
                </a:solidFill>
                <a:latin typeface="Montserrat"/>
              </a:rPr>
              <a:t>One lens. </a:t>
            </a:r>
            <a:r>
              <a:rPr lang="en-US" sz="6000" b="1" i="1" dirty="0">
                <a:solidFill>
                  <a:srgbClr val="D9A53B"/>
                </a:solidFill>
                <a:latin typeface="Montserrat"/>
              </a:rPr>
              <a:t>Three</a:t>
            </a:r>
            <a:r>
              <a:rPr lang="en-US" sz="6000" b="1" dirty="0">
                <a:solidFill>
                  <a:srgbClr val="11304E"/>
                </a:solidFill>
                <a:latin typeface="Montserrat"/>
              </a:rPr>
              <a:t> audiences.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12648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A5A6E"/>
                </a:solidFill>
                <a:latin typeface="Inter"/>
              </a:rPr>
              <a:t>We pitch as CEO of a Not-For-Profit aged-care provider — asking where to expand.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2648" y="3474720"/>
            <a:ext cx="3657600" cy="2743200"/>
          </a:xfrm>
          <a:prstGeom prst="rect">
            <a:avLst/>
          </a:prstGeom>
          <a:solidFill>
            <a:srgbClr val="11304E"/>
          </a:solidFill>
          <a:ln w="12700">
            <a:solidFill>
              <a:srgbClr val="1130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32688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A53B"/>
                </a:solidFill>
                <a:latin typeface="Inter"/>
              </a:rPr>
              <a:t>THE HAT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40690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AF6EC"/>
                </a:solidFill>
                <a:latin typeface="Montserrat"/>
              </a:rPr>
              <a:t>Not-For-Profit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FAF6EC"/>
                </a:solidFill>
                <a:latin typeface="Montserrat"/>
              </a:rPr>
              <a:t>Aged-Care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FAF6EC"/>
                </a:solidFill>
                <a:latin typeface="Montserrat"/>
              </a:rPr>
              <a:t>Provider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32688" y="5577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AF6EC"/>
                </a:solidFill>
                <a:latin typeface="Inter"/>
              </a:rPr>
              <a:t>Where do we expand?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44568" y="3474720"/>
            <a:ext cx="7034479" cy="731520"/>
          </a:xfrm>
          <a:prstGeom prst="rect">
            <a:avLst/>
          </a:prstGeom>
          <a:solidFill>
            <a:srgbClr val="FAF6EC"/>
          </a:solidFill>
          <a:ln w="9525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818888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4A5A6E"/>
                </a:solidFill>
                <a:latin typeface="Inter"/>
              </a:rPr>
              <a:t>AUDIENCE 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304E"/>
                </a:solidFill>
                <a:latin typeface="Inter"/>
              </a:rPr>
              <a:t>Families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13448" y="3657600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1304E"/>
                </a:solidFill>
                <a:latin typeface="Inter"/>
              </a:rPr>
              <a:t>"Is care near my parents any good?"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44568" y="4343400"/>
            <a:ext cx="7034479" cy="731520"/>
          </a:xfrm>
          <a:prstGeom prst="rect">
            <a:avLst/>
          </a:prstGeom>
          <a:solidFill>
            <a:srgbClr val="FAF6EC"/>
          </a:solidFill>
          <a:ln w="9525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818888" y="4480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4A5A6E"/>
                </a:solidFill>
                <a:latin typeface="Inter"/>
              </a:rPr>
              <a:t>AUDIENCE 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18888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304E"/>
                </a:solidFill>
                <a:latin typeface="Inter"/>
              </a:rPr>
              <a:t>Workers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13448" y="4526280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1304E"/>
                </a:solidFill>
                <a:latin typeface="Inter"/>
              </a:rPr>
              <a:t>"Where am I genuinely needed?"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44568" y="5212080"/>
            <a:ext cx="7034479" cy="731520"/>
          </a:xfrm>
          <a:prstGeom prst="rect">
            <a:avLst/>
          </a:prstGeom>
          <a:solidFill>
            <a:srgbClr val="FAF6EC"/>
          </a:solidFill>
          <a:ln w="9525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818888" y="5349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4A5A6E"/>
                </a:solidFill>
                <a:latin typeface="Inter"/>
              </a:rPr>
              <a:t>AUDIENCE 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18888" y="5577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304E"/>
                </a:solidFill>
                <a:latin typeface="Inter"/>
              </a:rPr>
              <a:t>Investors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13448" y="5394960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1304E"/>
                </a:solidFill>
                <a:latin typeface="Inter"/>
              </a:rPr>
              <a:t>"Where is undersupply structural, not cyclical?"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2648" y="6583680"/>
            <a:ext cx="54864" cy="54864"/>
          </a:xfrm>
          <a:prstGeom prst="ellipse">
            <a:avLst/>
          </a:prstGeom>
          <a:solidFill>
            <a:srgbClr val="11304E"/>
          </a:solidFill>
          <a:ln w="12700">
            <a:solidFill>
              <a:srgbClr val="1130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SAME DECISION · THREE ANSWERS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07447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02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98531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The image depicts a map with various Australian cities highlighted, each annotated with their respective remoteness quality scores for the year 2024.&#10;&#10;AI-generated content may be incorrect.">
            <a:extLst>
              <a:ext uri="{FF2B5EF4-FFF2-40B4-BE49-F238E27FC236}">
                <a16:creationId xmlns:a16="http://schemas.microsoft.com/office/drawing/2014/main" id="{AAA5119B-EB7A-BA86-DD3D-ABDF100CD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95979"/>
            <a:ext cx="8616722" cy="431706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12648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5A6E"/>
                </a:solidFill>
                <a:latin typeface="Inter"/>
              </a:rPr>
              <a:t>CHAPTER 1 — THE HOOK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207447" y="274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11304E"/>
                </a:solidFill>
                <a:latin typeface="Inter"/>
              </a:rPr>
              <a:t>03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3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6E"/>
                </a:solidFill>
                <a:latin typeface="Inter"/>
              </a:rPr>
              <a:t>§ GUT CHECK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0025" y="1613075"/>
            <a:ext cx="5836278" cy="129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304E"/>
                </a:solidFill>
                <a:latin typeface="Montserrat"/>
              </a:rPr>
              <a:t>Where is Australia's aged-care crisis </a:t>
            </a:r>
            <a:r>
              <a:rPr lang="en-US" sz="4400" b="1" i="1" dirty="0">
                <a:solidFill>
                  <a:srgbClr val="11304E"/>
                </a:solidFill>
                <a:latin typeface="Montserrat"/>
              </a:rPr>
              <a:t>worst</a:t>
            </a:r>
            <a:r>
              <a:rPr lang="en-US" sz="4400" b="1" dirty="0">
                <a:solidFill>
                  <a:srgbClr val="11304E"/>
                </a:solidFill>
                <a:latin typeface="Montserrat"/>
              </a:rPr>
              <a:t>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30025" y="3688883"/>
            <a:ext cx="37350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85A4E"/>
                </a:solidFill>
                <a:latin typeface="Inter"/>
              </a:rPr>
              <a:t>Most people guess </a:t>
            </a:r>
            <a:r>
              <a:rPr lang="en-US" sz="2200" b="1" i="1" dirty="0">
                <a:solidFill>
                  <a:srgbClr val="11304E"/>
                </a:solidFill>
                <a:latin typeface="Inter"/>
              </a:rPr>
              <a:t>remote</a:t>
            </a:r>
            <a:r>
              <a:rPr lang="en-US" sz="2200" i="1" dirty="0">
                <a:solidFill>
                  <a:srgbClr val="D85A4E"/>
                </a:solidFill>
                <a:latin typeface="Inter"/>
              </a:rPr>
              <a:t>. The data laughs.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12647" y="4627345"/>
            <a:ext cx="10966399" cy="0"/>
          </a:xfrm>
          <a:prstGeom prst="line">
            <a:avLst/>
          </a:prstGeom>
          <a:noFill/>
          <a:ln w="9525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557784" y="4894446"/>
            <a:ext cx="30294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4A5A6E"/>
                </a:solidFill>
                <a:latin typeface="Inter"/>
              </a:rPr>
              <a:t>MM7 VERY REMOTE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7784" y="5294496"/>
            <a:ext cx="3029469" cy="685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D9A53B"/>
                </a:solidFill>
                <a:latin typeface="Montserrat"/>
              </a:rPr>
              <a:t>3.90★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57784" y="6094596"/>
            <a:ext cx="302946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6E"/>
                </a:solidFill>
                <a:latin typeface="Inter"/>
              </a:rPr>
              <a:t>highest in the country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56348" y="5260206"/>
            <a:ext cx="0" cy="1268729"/>
          </a:xfrm>
          <a:prstGeom prst="line">
            <a:avLst/>
          </a:prstGeom>
          <a:noFill/>
          <a:ln w="9525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920356" y="4894446"/>
            <a:ext cx="30294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4A5A6E"/>
                </a:solidFill>
                <a:latin typeface="Inter"/>
              </a:rPr>
              <a:t>MM1 MAJOR CITY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20356" y="5294496"/>
            <a:ext cx="3029469" cy="685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D85A4E"/>
                </a:solidFill>
                <a:latin typeface="Montserrat"/>
              </a:rPr>
              <a:t>3.55★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3920356" y="6094596"/>
            <a:ext cx="302946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6E"/>
                </a:solidFill>
                <a:latin typeface="Inter"/>
              </a:rPr>
              <a:t>lowest in the country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91487" y="5260206"/>
            <a:ext cx="0" cy="1268729"/>
          </a:xfrm>
          <a:prstGeom prst="line">
            <a:avLst/>
          </a:prstGeom>
          <a:noFill/>
          <a:ln w="9525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7282927" y="5385936"/>
            <a:ext cx="4241256" cy="960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1304E"/>
                </a:solidFill>
                <a:latin typeface="Montserrat"/>
              </a:rPr>
              <a:t>The crisis lives in our </a:t>
            </a:r>
            <a:r>
              <a:rPr lang="en-US" sz="2400" b="1" dirty="0">
                <a:solidFill>
                  <a:srgbClr val="D85A4E"/>
                </a:solidFill>
                <a:latin typeface="Montserrat"/>
              </a:rPr>
              <a:t>four biggest cities.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2648" y="6583680"/>
            <a:ext cx="54864" cy="54864"/>
          </a:xfrm>
          <a:prstGeom prst="ellipse">
            <a:avLst/>
          </a:prstGeom>
          <a:solidFill>
            <a:srgbClr val="11304E"/>
          </a:solidFill>
          <a:ln w="12700">
            <a:solidFill>
              <a:srgbClr val="1130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REMOTENESS FLIPS THE MAP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07447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03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174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5A6E"/>
                </a:solidFill>
                <a:latin typeface="Inter"/>
              </a:rPr>
              <a:t>CHAPTER 1 — PAYOFF · THE GEOGRAPHY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207447" y="274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11304E"/>
                </a:solidFill>
                <a:latin typeface="Inter"/>
              </a:rPr>
              <a:t>04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6247" y="747989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6E"/>
                </a:solidFill>
                <a:latin typeface="Inter"/>
              </a:rPr>
              <a:t>§ TOP-10 WORST REGIONS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2955" y="99276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304E"/>
                </a:solidFill>
                <a:latin typeface="Montserrat"/>
              </a:rPr>
              <a:t>Every top-10 worst region is a </a:t>
            </a:r>
            <a:r>
              <a:rPr lang="en-US" sz="3800" b="1" i="1" dirty="0">
                <a:solidFill>
                  <a:srgbClr val="11304E"/>
                </a:solidFill>
                <a:latin typeface="Montserrat"/>
              </a:rPr>
              <a:t>major city.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12955" y="179895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5A6E"/>
                </a:solidFill>
                <a:latin typeface="Inter"/>
              </a:rPr>
              <a:t>Unley, SA: Care Gap Index </a:t>
            </a:r>
            <a:r>
              <a:rPr lang="en-US" sz="1700" b="1" i="1" dirty="0">
                <a:solidFill>
                  <a:srgbClr val="D9A53B"/>
                </a:solidFill>
                <a:latin typeface="Inter"/>
              </a:rPr>
              <a:t>2.78</a:t>
            </a:r>
            <a:r>
              <a:rPr lang="en-US" sz="1700" i="1" dirty="0">
                <a:solidFill>
                  <a:srgbClr val="4A5A6E"/>
                </a:solidFill>
                <a:latin typeface="Inter"/>
              </a:rPr>
              <a:t> — 2.46× the national average of 1.13.</a:t>
            </a:r>
            <a:endParaRPr lang="en-US" sz="17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A8896"/>
                </a:solidFill>
                <a:latin typeface="Inter"/>
              </a:rPr>
              <a:t>ⓘ Care Gap Index = demand pressure ÷ care quality. Higher = bigger crisis.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443556483"/>
              </p:ext>
            </p:extLst>
          </p:nvPr>
        </p:nvGraphicFramePr>
        <p:xfrm>
          <a:off x="363794" y="2400005"/>
          <a:ext cx="7015414" cy="3452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12648" y="598932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595"/>
                </a:solidFill>
                <a:latin typeface="Inter"/>
              </a:rPr>
              <a:t>FIG. 4 · CARE GAP — REGION + STATE VIEW · 2024</a:t>
            </a:r>
            <a:endParaRPr lang="en-US" sz="800" kern="0" spc="200" dirty="0"/>
          </a:p>
        </p:txBody>
      </p:sp>
      <p:sp>
        <p:nvSpPr>
          <p:cNvPr id="9" name="Text 6"/>
          <p:cNvSpPr/>
          <p:nvPr/>
        </p:nvSpPr>
        <p:spPr>
          <a:xfrm>
            <a:off x="7927848" y="1859035"/>
            <a:ext cx="3925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6E"/>
                </a:solidFill>
                <a:latin typeface="Inter"/>
              </a:rPr>
              <a:t>CARE GAP BY STATE · 2024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527204"/>
              </p:ext>
            </p:extLst>
          </p:nvPr>
        </p:nvGraphicFramePr>
        <p:xfrm>
          <a:off x="7794041" y="2162231"/>
          <a:ext cx="3924300" cy="2596896"/>
        </p:xfrm>
        <a:graphic>
          <a:graphicData uri="http://schemas.openxmlformats.org/drawingml/2006/table">
            <a:tbl>
              <a:tblPr/>
              <a:tblGrid>
                <a:gridCol w="964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88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300" dirty="0">
                          <a:solidFill>
                            <a:srgbClr val="4A5A6E"/>
                          </a:solidFill>
                          <a:latin typeface="Inter"/>
                        </a:rPr>
                        <a:t>STATE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kern="0" spc="300" dirty="0">
                          <a:solidFill>
                            <a:srgbClr val="4A5A6E"/>
                          </a:solidFill>
                          <a:latin typeface="Inter"/>
                        </a:rPr>
                        <a:t>CARE GAP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kern="0" spc="300" dirty="0">
                          <a:solidFill>
                            <a:srgbClr val="4A5A6E"/>
                          </a:solidFill>
                          <a:latin typeface="Inter"/>
                        </a:rPr>
                        <a:t>RESIDENTIAL ACCESS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304E"/>
                          </a:solidFill>
                          <a:latin typeface="Inter"/>
                        </a:rPr>
                        <a:t>ACT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1304E"/>
                          </a:solidFill>
                          <a:latin typeface="Inter"/>
                        </a:rPr>
                        <a:t>1.37 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D9A53B"/>
                          </a:solidFill>
                          <a:latin typeface="Inter"/>
                        </a:rPr>
                        <a:t>5.01%</a:t>
                      </a:r>
                      <a:r>
                        <a:rPr lang="en-US" sz="1200" b="1" dirty="0">
                          <a:solidFill>
                            <a:srgbClr val="11304E"/>
                          </a:solidFill>
                          <a:latin typeface="Inter"/>
                        </a:rPr>
                        <a:t> (highest)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A6E"/>
                          </a:solidFill>
                          <a:latin typeface="Inter"/>
                        </a:rPr>
                        <a:t>SA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A6E"/>
                          </a:solidFill>
                          <a:latin typeface="Inter"/>
                        </a:rPr>
                        <a:t>1.23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5A6E"/>
                          </a:solidFill>
                          <a:latin typeface="Inter"/>
                        </a:rPr>
                        <a:t>4.32%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A6E"/>
                          </a:solidFill>
                          <a:latin typeface="Inter"/>
                        </a:rPr>
                        <a:t>VIC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A6E"/>
                          </a:solidFill>
                          <a:latin typeface="Inter"/>
                        </a:rPr>
                        <a:t>1.21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5A6E"/>
                          </a:solidFill>
                          <a:latin typeface="Inter"/>
                        </a:rPr>
                        <a:t>4.34%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A6E"/>
                          </a:solidFill>
                          <a:latin typeface="Inter"/>
                        </a:rPr>
                        <a:t>NSW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A6E"/>
                          </a:solidFill>
                          <a:latin typeface="Inter"/>
                        </a:rPr>
                        <a:t>1.13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5A6E"/>
                          </a:solidFill>
                          <a:latin typeface="Inter"/>
                        </a:rPr>
                        <a:t>4.03%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A6E"/>
                          </a:solidFill>
                          <a:latin typeface="Inter"/>
                        </a:rPr>
                        <a:t>WA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A6E"/>
                          </a:solidFill>
                          <a:latin typeface="Inter"/>
                        </a:rPr>
                        <a:t>0.99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5A6E"/>
                          </a:solidFill>
                          <a:latin typeface="Inter"/>
                        </a:rPr>
                        <a:t>3.47%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A6E"/>
                          </a:solidFill>
                          <a:latin typeface="Inter"/>
                        </a:rPr>
                        <a:t>NT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A6E"/>
                          </a:solidFill>
                          <a:latin typeface="Inter"/>
                        </a:rPr>
                        <a:t>0.84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5A6E"/>
                          </a:solidFill>
                          <a:latin typeface="Inter"/>
                        </a:rPr>
                        <a:t>3.00%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99673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A6E"/>
                          </a:solidFill>
                          <a:latin typeface="Inter"/>
                        </a:rPr>
                        <a:t>TAS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4A5A6E"/>
                          </a:solidFill>
                          <a:latin typeface="Inter"/>
                        </a:rPr>
                        <a:t>0.81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5A6E"/>
                          </a:solidFill>
                          <a:latin typeface="Inter"/>
                        </a:rPr>
                        <a:t>2.92%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763887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653528" y="5029200"/>
            <a:ext cx="3925519" cy="1188720"/>
          </a:xfrm>
          <a:prstGeom prst="rect">
            <a:avLst/>
          </a:prstGeom>
          <a:solidFill>
            <a:srgbClr val="FAF6EC"/>
          </a:solidFill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8"/>
          <p:cNvSpPr/>
          <p:nvPr/>
        </p:nvSpPr>
        <p:spPr>
          <a:xfrm>
            <a:off x="7882128" y="5166360"/>
            <a:ext cx="34683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304E"/>
                </a:solidFill>
                <a:latin typeface="Inter"/>
              </a:rPr>
              <a:t>ACT leads despite high quality </a:t>
            </a:r>
            <a:r>
              <a:rPr lang="en-US" sz="1300" dirty="0">
                <a:solidFill>
                  <a:srgbClr val="4A5A6E"/>
                </a:solidFill>
                <a:latin typeface="Inter"/>
              </a:rPr>
              <a:t>— it's the highest-demand state, not the lowest-quality. Same pattern as the named SA3s: urban demand, not rural neglect.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" y="6217920"/>
            <a:ext cx="10966399" cy="0"/>
          </a:xfrm>
          <a:prstGeom prst="line">
            <a:avLst/>
          </a:prstGeom>
          <a:noFill/>
          <a:ln w="9525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0"/>
          <p:cNvSpPr/>
          <p:nvPr/>
        </p:nvSpPr>
        <p:spPr>
          <a:xfrm>
            <a:off x="612648" y="6263640"/>
            <a:ext cx="10966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1304E"/>
                </a:solidFill>
                <a:latin typeface="Inter"/>
              </a:rPr>
              <a:t>The crisis is geographic — </a:t>
            </a:r>
            <a:r>
              <a:rPr lang="en-US" sz="1300" b="1" dirty="0">
                <a:solidFill>
                  <a:srgbClr val="D85A4E"/>
                </a:solidFill>
                <a:latin typeface="Inter"/>
              </a:rPr>
              <a:t>concentrated in cities, not the outback.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2648" y="6583680"/>
            <a:ext cx="54864" cy="54864"/>
          </a:xfrm>
          <a:prstGeom prst="ellipse">
            <a:avLst/>
          </a:prstGeom>
          <a:solidFill>
            <a:srgbClr val="11304E"/>
          </a:solidFill>
          <a:ln w="12700">
            <a:solidFill>
              <a:srgbClr val="1130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2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N = 323 SA3 REGIONS · 2024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207447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04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53025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5A6E"/>
                </a:solidFill>
                <a:latin typeface="Inter"/>
              </a:rPr>
              <a:t>CHAPTER 2 · PART 1 — THE CAUSE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207447" y="274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11304E"/>
                </a:solidFill>
                <a:latin typeface="Inter"/>
              </a:rPr>
              <a:t>05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6E"/>
                </a:solidFill>
                <a:latin typeface="Inter"/>
              </a:rPr>
              <a:t>§ OWNERSHIP TREND · 12 QUARTERS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12801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304E"/>
                </a:solidFill>
                <a:latin typeface="Montserrat"/>
              </a:rPr>
              <a:t>The </a:t>
            </a:r>
            <a:r>
              <a:rPr lang="en-US" sz="3400" b="1" dirty="0">
                <a:solidFill>
                  <a:srgbClr val="D85A4E"/>
                </a:solidFill>
                <a:latin typeface="Montserrat"/>
              </a:rPr>
              <a:t>0.57-star gap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1304E"/>
                </a:solidFill>
                <a:latin typeface="Montserrat"/>
              </a:rPr>
              <a:t>that hasn't moved in 12 quarters.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12648" y="2926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A6E"/>
                </a:solidFill>
                <a:latin typeface="Inter"/>
              </a:rPr>
              <a:t>Government 4.07★  ·  Not-for-profit 3.61★  ·  For-profit 3.50★ — stable across every state and remoteness band.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92847" y="1280160"/>
            <a:ext cx="1234440" cy="1005840"/>
          </a:xfrm>
          <a:prstGeom prst="rect">
            <a:avLst/>
          </a:prstGeom>
          <a:solidFill>
            <a:srgbClr val="FAF6EC"/>
          </a:solidFill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802575" y="1389888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BA39B"/>
                </a:solidFill>
                <a:latin typeface="Montserrat"/>
              </a:rPr>
              <a:t>4.07★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802575" y="1965960"/>
            <a:ext cx="1014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6E"/>
                </a:solidFill>
                <a:latin typeface="Inter"/>
              </a:rPr>
              <a:t>GOVERNMENT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018727" y="1280160"/>
            <a:ext cx="1234440" cy="1005840"/>
          </a:xfrm>
          <a:prstGeom prst="rect">
            <a:avLst/>
          </a:prstGeom>
          <a:solidFill>
            <a:srgbClr val="FAF6EC"/>
          </a:solidFill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9128455" y="1389888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3F66"/>
                </a:solidFill>
                <a:latin typeface="Montserrat"/>
              </a:rPr>
              <a:t>3.61★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28455" y="1965960"/>
            <a:ext cx="1014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6E"/>
                </a:solidFill>
                <a:latin typeface="Inter"/>
              </a:rPr>
              <a:t>NOT-FOR-PROFIT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344607" y="1280160"/>
            <a:ext cx="1234440" cy="1005840"/>
          </a:xfrm>
          <a:prstGeom prst="rect">
            <a:avLst/>
          </a:prstGeom>
          <a:solidFill>
            <a:srgbClr val="FAF6EC"/>
          </a:solidFill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10454335" y="1389888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85A4E"/>
                </a:solidFill>
                <a:latin typeface="Montserrat"/>
              </a:rPr>
              <a:t>3.50★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54335" y="1965960"/>
            <a:ext cx="1014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5A6E"/>
                </a:solidFill>
                <a:latin typeface="Inter"/>
              </a:rPr>
              <a:t>FOR-PROFIT</a:t>
            </a:r>
            <a:endParaRPr lang="en-US" sz="8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12648" y="3429000"/>
          <a:ext cx="10966399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612648" y="6583680"/>
            <a:ext cx="54864" cy="54864"/>
          </a:xfrm>
          <a:prstGeom prst="ellipse">
            <a:avLst/>
          </a:prstGeom>
          <a:solidFill>
            <a:srgbClr val="11304E"/>
          </a:solidFill>
          <a:ln w="12700">
            <a:solidFill>
              <a:srgbClr val="1130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SOURCE — ACQSC STAR RATINGS · 2023-Q2 → 2026-Q1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207447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05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22195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5A6E"/>
                </a:solidFill>
                <a:latin typeface="Inter"/>
              </a:rPr>
              <a:t>CHAPTER 2 · PART 2 — THE PARADOX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207447" y="274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11304E"/>
                </a:solidFill>
                <a:latin typeface="Inter"/>
              </a:rPr>
              <a:t>06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6E"/>
                </a:solidFill>
                <a:latin typeface="Inter"/>
              </a:rPr>
              <a:t>§ FUNDING VS QUALITY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2648" y="12801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85A4E"/>
                </a:solidFill>
                <a:latin typeface="Montserrat"/>
              </a:rPr>
              <a:t>2.7× more money.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1304E"/>
                </a:solidFill>
                <a:latin typeface="Montserrat"/>
              </a:rPr>
              <a:t>Lower quality. Identical outcomes.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12648" y="30175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5A6E"/>
                </a:solidFill>
                <a:latin typeface="Inter"/>
              </a:rPr>
              <a:t>For-profit: </a:t>
            </a:r>
            <a:r>
              <a:rPr lang="en-US" sz="1600" b="1" i="1" dirty="0">
                <a:solidFill>
                  <a:srgbClr val="11304E"/>
                </a:solidFill>
                <a:latin typeface="Inter"/>
              </a:rPr>
              <a:t>$8.97M</a:t>
            </a:r>
            <a:r>
              <a:rPr lang="en-US" sz="1600" i="1" dirty="0">
                <a:solidFill>
                  <a:srgbClr val="4A5A6E"/>
                </a:solidFill>
                <a:latin typeface="Inter"/>
              </a:rPr>
              <a:t> public funding per facility  ·  Government: </a:t>
            </a:r>
            <a:r>
              <a:rPr lang="en-US" sz="1600" b="1" i="1" dirty="0">
                <a:solidFill>
                  <a:srgbClr val="11304E"/>
                </a:solidFill>
                <a:latin typeface="Inter"/>
              </a:rPr>
              <a:t>$3.27M</a:t>
            </a:r>
            <a:r>
              <a:rPr lang="en-US" sz="1600" i="1" dirty="0">
                <a:solidFill>
                  <a:srgbClr val="4A5A6E"/>
                </a:solidFill>
                <a:latin typeface="Inter"/>
              </a:rPr>
              <a:t> (2025).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" y="3657600"/>
            <a:ext cx="36576" cy="777240"/>
          </a:xfrm>
          <a:prstGeom prst="rect">
            <a:avLst/>
          </a:prstGeom>
          <a:solidFill>
            <a:srgbClr val="D85A4E"/>
          </a:solidFill>
          <a:ln w="12700">
            <a:solidFill>
              <a:srgbClr val="D85A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95528" y="3657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1304E"/>
                </a:solidFill>
                <a:latin typeface="Inter"/>
              </a:rPr>
              <a:t>STAFFING — INPUT GAP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" y="39136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304E"/>
                </a:solidFill>
                <a:latin typeface="Inter"/>
              </a:rPr>
              <a:t>Govt </a:t>
            </a:r>
            <a:r>
              <a:rPr lang="en-US" sz="1300" b="1" dirty="0">
                <a:solidFill>
                  <a:srgbClr val="2BA39B"/>
                </a:solidFill>
                <a:latin typeface="Inter"/>
              </a:rPr>
              <a:t>4.39</a:t>
            </a:r>
            <a:r>
              <a:rPr lang="en-US" sz="1300" dirty="0">
                <a:solidFill>
                  <a:srgbClr val="11304E"/>
                </a:solidFill>
                <a:latin typeface="Inter"/>
              </a:rPr>
              <a:t> vs For-profit </a:t>
            </a:r>
            <a:r>
              <a:rPr lang="en-US" sz="1300" b="1" dirty="0">
                <a:solidFill>
                  <a:srgbClr val="D85A4E"/>
                </a:solidFill>
                <a:latin typeface="Inter"/>
              </a:rPr>
              <a:t>2.61</a:t>
            </a:r>
            <a:r>
              <a:rPr lang="en-US" sz="1300" dirty="0">
                <a:solidFill>
                  <a:srgbClr val="11304E"/>
                </a:solidFill>
                <a:latin typeface="Inter"/>
              </a:rPr>
              <a:t> — a 1.78-pt input gap.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" y="4572000"/>
            <a:ext cx="36576" cy="777240"/>
          </a:xfrm>
          <a:prstGeom prst="rect">
            <a:avLst/>
          </a:prstGeom>
          <a:solidFill>
            <a:srgbClr val="2BA39B"/>
          </a:solidFill>
          <a:ln w="12700">
            <a:solidFill>
              <a:srgbClr val="2BA39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795528" y="4572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BA39B"/>
                </a:solidFill>
                <a:latin typeface="Inter"/>
              </a:rPr>
              <a:t>QUALITY MEASURES — OUTCOMES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48280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304E"/>
                </a:solidFill>
                <a:latin typeface="Inter"/>
              </a:rPr>
              <a:t>Resident health outcomes: </a:t>
            </a:r>
            <a:r>
              <a:rPr lang="en-US" sz="1300" b="1" dirty="0">
                <a:solidFill>
                  <a:srgbClr val="2BA39B"/>
                </a:solidFill>
                <a:latin typeface="Inter"/>
              </a:rPr>
              <a:t>3.52 vs 3.51</a:t>
            </a:r>
            <a:r>
              <a:rPr lang="en-US" sz="1300" dirty="0">
                <a:solidFill>
                  <a:srgbClr val="11304E"/>
                </a:solidFill>
                <a:latin typeface="Inter"/>
              </a:rPr>
              <a:t> — virtually identical.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" y="5486400"/>
            <a:ext cx="36576" cy="777240"/>
          </a:xfrm>
          <a:prstGeom prst="rect">
            <a:avLst/>
          </a:prstGeom>
          <a:solidFill>
            <a:srgbClr val="11304E"/>
          </a:solidFill>
          <a:ln w="12700">
            <a:solidFill>
              <a:srgbClr val="1130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95528" y="5486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A6E"/>
                </a:solidFill>
                <a:latin typeface="Inter"/>
              </a:rPr>
              <a:t>EXTERNAL CORROBORATION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" y="57424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304E"/>
                </a:solidFill>
                <a:latin typeface="Inter"/>
              </a:rPr>
              <a:t>Chu et al. JAMDA 2024 (n = 2,476) — for-profit </a:t>
            </a:r>
            <a:r>
              <a:rPr lang="en-US" sz="1300" b="1" dirty="0">
                <a:solidFill>
                  <a:srgbClr val="D85A4E"/>
                </a:solidFill>
                <a:latin typeface="Inter"/>
              </a:rPr>
              <a:t>8× less likely</a:t>
            </a:r>
            <a:r>
              <a:rPr lang="en-US" sz="1300" dirty="0">
                <a:solidFill>
                  <a:srgbClr val="11304E"/>
                </a:solidFill>
                <a:latin typeface="Inter"/>
              </a:rPr>
              <a:t> to reach 4–5★ than government.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9048" y="3657600"/>
            <a:ext cx="5479999" cy="2743200"/>
          </a:xfrm>
          <a:prstGeom prst="rect">
            <a:avLst/>
          </a:prstGeom>
          <a:solidFill>
            <a:srgbClr val="FAF6EC"/>
          </a:solidFill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281928" y="3794760"/>
            <a:ext cx="51142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A6E"/>
                </a:solidFill>
                <a:latin typeface="Inter"/>
              </a:rPr>
              <a:t>PUBLIC FUNDING vs QUALITY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27648" y="4069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595"/>
                </a:solidFill>
                <a:latin typeface="Inter"/>
              </a:rPr>
              <a:t>OWNERSHIP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2128" y="4069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595"/>
                </a:solidFill>
                <a:latin typeface="Inter"/>
              </a:rPr>
              <a:t>FUNDING / FAC.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817608" y="4069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595"/>
                </a:solidFill>
                <a:latin typeface="Inter"/>
              </a:rPr>
              <a:t>QUALITY (★)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27648" y="4343400"/>
            <a:ext cx="5022799" cy="0"/>
          </a:xfrm>
          <a:prstGeom prst="line">
            <a:avLst/>
          </a:prstGeom>
          <a:noFill/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6327648" y="4507992"/>
            <a:ext cx="146304" cy="146304"/>
          </a:xfrm>
          <a:prstGeom prst="ellipse">
            <a:avLst/>
          </a:prstGeom>
          <a:solidFill>
            <a:srgbClr val="2BA39B"/>
          </a:solidFill>
          <a:ln w="12700">
            <a:solidFill>
              <a:srgbClr val="2BA39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6537960" y="44348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304E"/>
                </a:solidFill>
                <a:latin typeface="Inter"/>
              </a:rPr>
              <a:t>Government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82128" y="4498848"/>
            <a:ext cx="502920" cy="164592"/>
          </a:xfrm>
          <a:prstGeom prst="rect">
            <a:avLst/>
          </a:prstGeom>
          <a:solidFill>
            <a:srgbClr val="2BA39B">
              <a:alpha val="70000"/>
            </a:srgbClr>
          </a:solidFill>
          <a:ln w="12700">
            <a:solidFill>
              <a:srgbClr val="2BA39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8430768" y="44714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A39B"/>
                </a:solidFill>
                <a:latin typeface="Inter"/>
              </a:rPr>
              <a:t>$2.85M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817608" y="4498848"/>
            <a:ext cx="1005840" cy="164592"/>
          </a:xfrm>
          <a:prstGeom prst="rect">
            <a:avLst/>
          </a:prstGeom>
          <a:solidFill>
            <a:srgbClr val="2BA39B"/>
          </a:solidFill>
          <a:ln w="12700">
            <a:solidFill>
              <a:srgbClr val="2BA39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10869168" y="44714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A39B"/>
                </a:solidFill>
                <a:latin typeface="Inter"/>
              </a:rPr>
              <a:t>4.07★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27648" y="5010912"/>
            <a:ext cx="146304" cy="146304"/>
          </a:xfrm>
          <a:prstGeom prst="ellipse">
            <a:avLst/>
          </a:prstGeom>
          <a:solidFill>
            <a:srgbClr val="1B3F66"/>
          </a:solidFill>
          <a:ln w="12700">
            <a:solidFill>
              <a:srgbClr val="1B3F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6537960" y="4937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304E"/>
                </a:solidFill>
                <a:latin typeface="Inter"/>
              </a:rPr>
              <a:t>Not-for-profit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82128" y="5001768"/>
            <a:ext cx="978408" cy="164592"/>
          </a:xfrm>
          <a:prstGeom prst="rect">
            <a:avLst/>
          </a:prstGeom>
          <a:solidFill>
            <a:srgbClr val="1B3F66">
              <a:alpha val="70000"/>
            </a:srgbClr>
          </a:solidFill>
          <a:ln w="12700">
            <a:solidFill>
              <a:srgbClr val="1B3F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8906256" y="49743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F66"/>
                </a:solidFill>
                <a:latin typeface="Inter"/>
              </a:rPr>
              <a:t>$5.54M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817608" y="5001768"/>
            <a:ext cx="868680" cy="164592"/>
          </a:xfrm>
          <a:prstGeom prst="rect">
            <a:avLst/>
          </a:prstGeom>
          <a:solidFill>
            <a:srgbClr val="1B3F66"/>
          </a:solidFill>
          <a:ln w="12700">
            <a:solidFill>
              <a:srgbClr val="1B3F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10732008" y="49743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F66"/>
                </a:solidFill>
                <a:latin typeface="Inter"/>
              </a:rPr>
              <a:t>3.61★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27648" y="5513832"/>
            <a:ext cx="146304" cy="146304"/>
          </a:xfrm>
          <a:prstGeom prst="ellipse">
            <a:avLst/>
          </a:prstGeom>
          <a:solidFill>
            <a:srgbClr val="D85A4E"/>
          </a:solidFill>
          <a:ln w="12700">
            <a:solidFill>
              <a:srgbClr val="D85A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6537960" y="54406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304E"/>
                </a:solidFill>
                <a:latin typeface="Inter"/>
              </a:rPr>
              <a:t>For-profit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82128" y="5504688"/>
            <a:ext cx="1307592" cy="164592"/>
          </a:xfrm>
          <a:prstGeom prst="rect">
            <a:avLst/>
          </a:prstGeom>
          <a:solidFill>
            <a:srgbClr val="D85A4E">
              <a:alpha val="70000"/>
            </a:srgbClr>
          </a:solidFill>
          <a:ln w="12700">
            <a:solidFill>
              <a:srgbClr val="D85A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9235440" y="547725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5A4E"/>
                </a:solidFill>
                <a:latin typeface="Inter"/>
              </a:rPr>
              <a:t>$7.46M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817608" y="5504688"/>
            <a:ext cx="841248" cy="164592"/>
          </a:xfrm>
          <a:prstGeom prst="rect">
            <a:avLst/>
          </a:prstGeom>
          <a:solidFill>
            <a:srgbClr val="D85A4E"/>
          </a:solidFill>
          <a:ln w="12700">
            <a:solidFill>
              <a:srgbClr val="D85A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10704576" y="5477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5A4E"/>
                </a:solidFill>
                <a:latin typeface="Inter"/>
              </a:rPr>
              <a:t>3.50★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27648" y="5989320"/>
            <a:ext cx="5022799" cy="274320"/>
          </a:xfrm>
          <a:prstGeom prst="rect">
            <a:avLst/>
          </a:prstGeom>
          <a:solidFill>
            <a:srgbClr val="D9A53B"/>
          </a:solidFill>
          <a:ln w="12700">
            <a:solidFill>
              <a:srgbClr val="D9A53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6327648" y="5989320"/>
            <a:ext cx="5022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Inter"/>
              </a:rPr>
              <a:t>+2.7× FUNDING — LOWEST QUALITY.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2648" y="6583680"/>
            <a:ext cx="54864" cy="54864"/>
          </a:xfrm>
          <a:prstGeom prst="ellipse">
            <a:avLst/>
          </a:prstGeom>
          <a:solidFill>
            <a:srgbClr val="11304E"/>
          </a:solidFill>
          <a:ln w="12700">
            <a:solidFill>
              <a:srgbClr val="1130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N = 2,476 FACILITIES · ACQSC + DoHAC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207447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06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8209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5A6E"/>
                </a:solidFill>
                <a:latin typeface="Inter"/>
              </a:rPr>
              <a:t>CHAPTER 3 · PART 1 — HEART-STRING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207447" y="274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11304E"/>
                </a:solidFill>
                <a:latin typeface="Inter"/>
              </a:rPr>
              <a:t>07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6E"/>
                </a:solidFill>
                <a:latin typeface="Inter"/>
              </a:rPr>
              <a:t>§ THE WORST RATIO IN THE COUNTRY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2648" y="1234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304E"/>
                </a:solidFill>
                <a:latin typeface="Montserrat"/>
              </a:rPr>
              <a:t>3.1 high-needs people. </a:t>
            </a:r>
            <a:r>
              <a:rPr lang="en-US" sz="4400" b="1" i="1" dirty="0">
                <a:solidFill>
                  <a:srgbClr val="11304E"/>
                </a:solidFill>
                <a:latin typeface="Montserrat"/>
              </a:rPr>
              <a:t>1 bed.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12648" y="2103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5A6E"/>
                </a:solidFill>
                <a:latin typeface="Inter"/>
              </a:rPr>
              <a:t>Central Highlands, Tasmania — </a:t>
            </a:r>
            <a:r>
              <a:rPr lang="en-US" sz="1700" b="1" i="1" dirty="0">
                <a:solidFill>
                  <a:srgbClr val="D85A4E"/>
                </a:solidFill>
                <a:latin typeface="Inter"/>
              </a:rPr>
              <a:t>56 people · 18 beds.</a:t>
            </a:r>
            <a:r>
              <a:rPr lang="en-US" sz="1700" i="1" dirty="0">
                <a:solidFill>
                  <a:srgbClr val="4A5A6E"/>
                </a:solidFill>
                <a:latin typeface="Inter"/>
              </a:rPr>
              <a:t> Australia's worst supply-demand ratio.</a:t>
            </a:r>
            <a:endParaRPr lang="en-US" sz="17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12648" y="2606040"/>
          <a:ext cx="10966399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12648" y="5623560"/>
            <a:ext cx="109663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B8911E"/>
                </a:solidFill>
                <a:latin typeface="Inter"/>
              </a:rPr>
              <a:t>CRISIS THRESHOLD = 1.0  (every bar above this is a structural-deficit SA3)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12648" y="5852160"/>
            <a:ext cx="10966399" cy="0"/>
          </a:xfrm>
          <a:prstGeom prst="line">
            <a:avLst/>
          </a:prstGeom>
          <a:noFill/>
          <a:ln w="9525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658368" y="5897880"/>
            <a:ext cx="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85A4E"/>
                </a:solidFill>
                <a:latin typeface="Inter"/>
              </a:rPr>
              <a:t>82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44792" y="5916168"/>
            <a:ext cx="1754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E"/>
                </a:solidFill>
                <a:latin typeface="Inter"/>
              </a:rPr>
              <a:t>SA3 regions in structural deficit — 1 in 6 (2025)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08528" y="5897880"/>
            <a:ext cx="0" cy="502920"/>
          </a:xfrm>
          <a:prstGeom prst="line">
            <a:avLst/>
          </a:prstGeom>
          <a:noFill/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3399968" y="5897880"/>
            <a:ext cx="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85A4E"/>
                </a:solidFill>
                <a:latin typeface="Inter"/>
              </a:rPr>
              <a:t>+24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286392" y="5916168"/>
            <a:ext cx="1754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E"/>
                </a:solidFill>
                <a:latin typeface="Inter"/>
              </a:rPr>
              <a:t>net new crisis zones (2024→2025)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50128" y="5897880"/>
            <a:ext cx="0" cy="502920"/>
          </a:xfrm>
          <a:prstGeom prst="line">
            <a:avLst/>
          </a:prstGeom>
          <a:noFill/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/>
          <p:nvPr/>
        </p:nvSpPr>
        <p:spPr>
          <a:xfrm>
            <a:off x="6141568" y="5897880"/>
            <a:ext cx="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304E"/>
                </a:solidFill>
                <a:latin typeface="Inter"/>
              </a:rPr>
              <a:t>59.1%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027992" y="5916168"/>
            <a:ext cx="1754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E"/>
                </a:solidFill>
                <a:latin typeface="Inter"/>
              </a:rPr>
              <a:t>of 2025 home-care approvals are L3-L4 (172,285 high-needs)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791727" y="5897880"/>
            <a:ext cx="0" cy="502920"/>
          </a:xfrm>
          <a:prstGeom prst="line">
            <a:avLst/>
          </a:prstGeom>
          <a:noFill/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/>
          <p:nvPr/>
        </p:nvSpPr>
        <p:spPr>
          <a:xfrm>
            <a:off x="8883167" y="5897880"/>
            <a:ext cx="87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304E"/>
                </a:solidFill>
                <a:latin typeface="Inter"/>
              </a:rPr>
              <a:t>12/20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769591" y="5916168"/>
            <a:ext cx="1754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E"/>
                </a:solidFill>
                <a:latin typeface="Inter"/>
              </a:rPr>
              <a:t>worst-pressure regions are MM1 major cities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12648" y="6583680"/>
            <a:ext cx="54864" cy="54864"/>
          </a:xfrm>
          <a:prstGeom prst="ellipse">
            <a:avLst/>
          </a:prstGeom>
          <a:solidFill>
            <a:srgbClr val="11304E"/>
          </a:solidFill>
          <a:ln w="12700">
            <a:solidFill>
              <a:srgbClr val="1130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HIGH-NEEDS HCP L3-L4 ÷ RESIDENTIAL BEDS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207447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07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230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5A6E"/>
                </a:solidFill>
                <a:latin typeface="Inter"/>
              </a:rPr>
              <a:t>CHAPTER 3 · PART 2 — THE MARKET FAILURE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207447" y="274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11304E"/>
                </a:solidFill>
                <a:latin typeface="Inter"/>
              </a:rPr>
              <a:t>08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6E"/>
                </a:solidFill>
                <a:latin typeface="Inter"/>
              </a:rPr>
              <a:t>§ SUPPLY DIVERGENCE · 2019 — </a:t>
            </a:r>
            <a:r>
              <a:rPr lang="vi-VN" sz="1000" b="1" kern="0" spc="300" dirty="0">
                <a:solidFill>
                  <a:srgbClr val="4A5A6E"/>
                </a:solidFill>
                <a:latin typeface="Inter"/>
              </a:rPr>
              <a:t>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2648" y="12344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304E"/>
                </a:solidFill>
                <a:latin typeface="Montserrat"/>
              </a:rPr>
              <a:t>We are building 12,000 beds in the wrong places.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12648" y="2148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5A6E"/>
                </a:solidFill>
                <a:latin typeface="Inter"/>
              </a:rPr>
              <a:t>Crisis zones lost </a:t>
            </a:r>
            <a:r>
              <a:rPr lang="en-US" sz="1700" b="1" i="1" dirty="0">
                <a:solidFill>
                  <a:srgbClr val="D85A4E"/>
                </a:solidFill>
                <a:latin typeface="Inter"/>
              </a:rPr>
              <a:t>323 places</a:t>
            </a:r>
            <a:r>
              <a:rPr lang="en-US" sz="1700" i="1" dirty="0">
                <a:solidFill>
                  <a:srgbClr val="4A5A6E"/>
                </a:solidFill>
                <a:latin typeface="Inter"/>
              </a:rPr>
              <a:t> while the rest of Australia added </a:t>
            </a:r>
            <a:r>
              <a:rPr lang="en-US" sz="1700" b="1" i="1" dirty="0">
                <a:solidFill>
                  <a:srgbClr val="2BA39B"/>
                </a:solidFill>
                <a:latin typeface="Inter"/>
              </a:rPr>
              <a:t>12,593.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2648" y="2788920"/>
            <a:ext cx="5346040" cy="1371600"/>
          </a:xfrm>
          <a:prstGeom prst="rect">
            <a:avLst/>
          </a:prstGeom>
          <a:solidFill>
            <a:srgbClr val="FAF6EC"/>
          </a:solidFill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8" name="Shape 6"/>
          <p:cNvSpPr/>
          <p:nvPr/>
        </p:nvSpPr>
        <p:spPr>
          <a:xfrm>
            <a:off x="612648" y="2788920"/>
            <a:ext cx="64008" cy="1371600"/>
          </a:xfrm>
          <a:prstGeom prst="rect">
            <a:avLst/>
          </a:prstGeom>
          <a:solidFill>
            <a:srgbClr val="D85A4E"/>
          </a:solidFill>
          <a:ln w="12700">
            <a:solidFill>
              <a:srgbClr val="D85A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886968" y="2926080"/>
            <a:ext cx="488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6E"/>
                </a:solidFill>
                <a:latin typeface="Inter"/>
              </a:rPr>
              <a:t>82 CRISIS ZONES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0976" y="3530600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D85A4E"/>
                </a:solidFill>
                <a:latin typeface="Montserrat"/>
              </a:rPr>
              <a:t>−323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86968" y="3474720"/>
            <a:ext cx="4421632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1388" y="3571240"/>
            <a:ext cx="24057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E"/>
                </a:solidFill>
                <a:latin typeface="Inter"/>
              </a:rPr>
              <a:t>net beds, 2019 → 2025  ·  +24 net new zones in 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3008" y="2788920"/>
            <a:ext cx="5346040" cy="1371600"/>
          </a:xfrm>
          <a:prstGeom prst="rect">
            <a:avLst/>
          </a:prstGeom>
          <a:solidFill>
            <a:srgbClr val="FAF6EC"/>
          </a:solidFill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14" name="Shape 12"/>
          <p:cNvSpPr/>
          <p:nvPr/>
        </p:nvSpPr>
        <p:spPr>
          <a:xfrm>
            <a:off x="6233008" y="2788920"/>
            <a:ext cx="64008" cy="1371600"/>
          </a:xfrm>
          <a:prstGeom prst="rect">
            <a:avLst/>
          </a:prstGeom>
          <a:solidFill>
            <a:srgbClr val="2BA39B"/>
          </a:solidFill>
          <a:ln w="12700">
            <a:solidFill>
              <a:srgbClr val="2BA39B"/>
            </a:solidFill>
            <a:prstDash val="solid"/>
          </a:ln>
        </p:spPr>
        <p:txBody>
          <a:bodyPr/>
          <a:lstStyle/>
          <a:p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07328" y="2926080"/>
            <a:ext cx="488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6E"/>
                </a:solidFill>
                <a:latin typeface="Inter"/>
              </a:rPr>
              <a:t>REST OF AUSTRALIA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07328" y="3154680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1304E"/>
                </a:solidFill>
              </a:rPr>
              <a:t>Where the beds went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07328" y="3474720"/>
            <a:ext cx="488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BA39B"/>
                </a:solidFill>
                <a:latin typeface="Montserrat"/>
              </a:rPr>
              <a:t>+12,593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173329" y="3657600"/>
            <a:ext cx="24057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E"/>
                </a:solidFill>
                <a:latin typeface="Inter"/>
              </a:rPr>
              <a:t>net beds flowing to already-served areas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2648" y="6583680"/>
            <a:ext cx="54864" cy="54864"/>
          </a:xfrm>
          <a:prstGeom prst="ellipse">
            <a:avLst/>
          </a:prstGeom>
          <a:solidFill>
            <a:srgbClr val="11304E"/>
          </a:solidFill>
          <a:ln w="12700">
            <a:solidFill>
              <a:srgbClr val="1130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INDEXED 2019 = 100 · RESIDENTIAL PLACES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207447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08 / 11</a:t>
            </a:r>
            <a:endParaRPr lang="en-US" sz="900" dirty="0"/>
          </a:p>
        </p:txBody>
      </p:sp>
      <p:sp>
        <p:nvSpPr>
          <p:cNvPr id="23" name="t23"/>
          <p:cNvSpPr txBox="1"/>
          <p:nvPr/>
        </p:nvSpPr>
        <p:spPr>
          <a:xfrm>
            <a:off x="609600" y="4432300"/>
            <a:ext cx="10960100" cy="1778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900" b="1" kern="0" spc="300" dirty="0">
                <a:solidFill>
                  <a:srgbClr val="1B3F6E"/>
                </a:solidFill>
                <a:latin typeface="Inter"/>
              </a:rPr>
              <a:t>F I G .  8  ·  R E S I D E N T I A L   S U P P L Y   ·   2 0 1 9 – 2 0 2 5</a:t>
            </a:r>
          </a:p>
        </p:txBody>
      </p:sp>
      <p:sp>
        <p:nvSpPr>
          <p:cNvPr id="24" name="poly24"/>
          <p:cNvSpPr/>
          <p:nvPr/>
        </p:nvSpPr>
        <p:spPr>
          <a:xfrm>
            <a:off x="1206500" y="4927600"/>
            <a:ext cx="10160000" cy="10795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75294"/>
                </a:moveTo>
                <a:lnTo>
                  <a:pt x="20000" y="57647"/>
                </a:lnTo>
                <a:lnTo>
                  <a:pt x="40000" y="40000"/>
                </a:lnTo>
                <a:lnTo>
                  <a:pt x="60000" y="28235"/>
                </a:lnTo>
                <a:lnTo>
                  <a:pt x="80000" y="10588"/>
                </a:lnTo>
                <a:lnTo>
                  <a:pt x="100000" y="0"/>
                </a:lnTo>
                <a:lnTo>
                  <a:pt x="100000" y="100000"/>
                </a:lnTo>
                <a:lnTo>
                  <a:pt x="80000" y="98824"/>
                </a:lnTo>
                <a:lnTo>
                  <a:pt x="60000" y="92941"/>
                </a:lnTo>
                <a:lnTo>
                  <a:pt x="40000" y="87059"/>
                </a:lnTo>
                <a:lnTo>
                  <a:pt x="20000" y="81176"/>
                </a:lnTo>
                <a:lnTo>
                  <a:pt x="0" y="75294"/>
                </a:lnTo>
                <a:close/>
              </a:path>
            </a:pathLst>
          </a:custGeom>
          <a:solidFill>
            <a:srgbClr val="F5C842">
              <a:alpha val="2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l25"/>
          <p:cNvSpPr/>
          <p:nvPr/>
        </p:nvSpPr>
        <p:spPr>
          <a:xfrm>
            <a:off x="1206500" y="5740400"/>
            <a:ext cx="10160000" cy="1"/>
          </a:xfrm>
          <a:prstGeom prst="line">
            <a:avLst/>
          </a:prstGeom>
          <a:ln w="9525" cap="rnd">
            <a:solidFill>
              <a:srgbClr val="6B7C93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6" name="t26"/>
          <p:cNvSpPr txBox="1"/>
          <p:nvPr/>
        </p:nvSpPr>
        <p:spPr>
          <a:xfrm>
            <a:off x="800100" y="6172200"/>
            <a:ext cx="342900" cy="1524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7C93"/>
                </a:solidFill>
                <a:latin typeface="Inter"/>
              </a:rPr>
              <a:t>96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800100" y="5664200"/>
            <a:ext cx="342900" cy="1524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7C93"/>
                </a:solidFill>
                <a:latin typeface="Inter"/>
              </a:rPr>
              <a:t>100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800100" y="5156200"/>
            <a:ext cx="342900" cy="1524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7C93"/>
                </a:solidFill>
                <a:latin typeface="Inter"/>
              </a:rPr>
              <a:t>104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800100" y="4648200"/>
            <a:ext cx="342900" cy="1524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7C93"/>
                </a:solidFill>
                <a:latin typeface="Inter"/>
              </a:rPr>
              <a:t>108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952500" y="6273800"/>
            <a:ext cx="508000" cy="1524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7C93"/>
                </a:solidFill>
                <a:latin typeface="Inter"/>
              </a:rPr>
              <a:t>2019</a:t>
            </a:r>
          </a:p>
        </p:txBody>
      </p:sp>
      <p:sp>
        <p:nvSpPr>
          <p:cNvPr id="31" name="t31"/>
          <p:cNvSpPr txBox="1"/>
          <p:nvPr/>
        </p:nvSpPr>
        <p:spPr>
          <a:xfrm>
            <a:off x="2984500" y="6273800"/>
            <a:ext cx="508000" cy="1524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7C93"/>
                </a:solidFill>
                <a:latin typeface="Inter"/>
              </a:rPr>
              <a:t>2020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016500" y="6273800"/>
            <a:ext cx="508000" cy="1524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7C93"/>
                </a:solidFill>
                <a:latin typeface="Inter"/>
              </a:rPr>
              <a:t>2021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7048500" y="6273800"/>
            <a:ext cx="508000" cy="1524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7C93"/>
                </a:solidFill>
                <a:latin typeface="Inter"/>
              </a:rPr>
              <a:t>2022</a:t>
            </a:r>
          </a:p>
        </p:txBody>
      </p:sp>
      <p:sp>
        <p:nvSpPr>
          <p:cNvPr id="34" name="t34"/>
          <p:cNvSpPr txBox="1"/>
          <p:nvPr/>
        </p:nvSpPr>
        <p:spPr>
          <a:xfrm>
            <a:off x="9080500" y="6273800"/>
            <a:ext cx="508000" cy="1524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7C93"/>
                </a:solidFill>
                <a:latin typeface="Inter"/>
              </a:rPr>
              <a:t>2023</a:t>
            </a:r>
          </a:p>
        </p:txBody>
      </p:sp>
      <p:sp>
        <p:nvSpPr>
          <p:cNvPr id="35" name="t35"/>
          <p:cNvSpPr txBox="1"/>
          <p:nvPr/>
        </p:nvSpPr>
        <p:spPr>
          <a:xfrm>
            <a:off x="11112500" y="6273800"/>
            <a:ext cx="508000" cy="1524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7C93"/>
                </a:solidFill>
                <a:latin typeface="Inter"/>
              </a:rPr>
              <a:t>2025</a:t>
            </a:r>
          </a:p>
        </p:txBody>
      </p:sp>
      <p:sp>
        <p:nvSpPr>
          <p:cNvPr id="36" name="l36"/>
          <p:cNvSpPr/>
          <p:nvPr/>
        </p:nvSpPr>
        <p:spPr>
          <a:xfrm flipV="1">
            <a:off x="1206500" y="5549900"/>
            <a:ext cx="2032000" cy="190500"/>
          </a:xfrm>
          <a:prstGeom prst="line">
            <a:avLst/>
          </a:prstGeom>
          <a:ln w="31750" cap="rnd">
            <a:solidFill>
              <a:srgbClr val="00A7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l37"/>
          <p:cNvSpPr/>
          <p:nvPr/>
        </p:nvSpPr>
        <p:spPr>
          <a:xfrm flipV="1">
            <a:off x="3238500" y="5359400"/>
            <a:ext cx="2032000" cy="190500"/>
          </a:xfrm>
          <a:prstGeom prst="line">
            <a:avLst/>
          </a:prstGeom>
          <a:ln w="31750" cap="rnd">
            <a:solidFill>
              <a:srgbClr val="00A7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l38"/>
          <p:cNvSpPr/>
          <p:nvPr/>
        </p:nvSpPr>
        <p:spPr>
          <a:xfrm flipV="1">
            <a:off x="5270500" y="5232400"/>
            <a:ext cx="2032000" cy="127000"/>
          </a:xfrm>
          <a:prstGeom prst="line">
            <a:avLst/>
          </a:prstGeom>
          <a:ln w="31750" cap="rnd">
            <a:solidFill>
              <a:srgbClr val="00A7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l39"/>
          <p:cNvSpPr/>
          <p:nvPr/>
        </p:nvSpPr>
        <p:spPr>
          <a:xfrm flipV="1">
            <a:off x="7302500" y="5041900"/>
            <a:ext cx="2032000" cy="190500"/>
          </a:xfrm>
          <a:prstGeom prst="line">
            <a:avLst/>
          </a:prstGeom>
          <a:ln w="31750" cap="rnd">
            <a:solidFill>
              <a:srgbClr val="00A7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l40"/>
          <p:cNvSpPr/>
          <p:nvPr/>
        </p:nvSpPr>
        <p:spPr>
          <a:xfrm flipV="1">
            <a:off x="9334500" y="4927600"/>
            <a:ext cx="2032000" cy="114300"/>
          </a:xfrm>
          <a:prstGeom prst="line">
            <a:avLst/>
          </a:prstGeom>
          <a:ln w="31750" cap="rnd">
            <a:solidFill>
              <a:srgbClr val="00A7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l41"/>
          <p:cNvSpPr/>
          <p:nvPr/>
        </p:nvSpPr>
        <p:spPr>
          <a:xfrm>
            <a:off x="1206500" y="5740400"/>
            <a:ext cx="2032000" cy="63500"/>
          </a:xfrm>
          <a:prstGeom prst="line">
            <a:avLst/>
          </a:prstGeom>
          <a:ln w="31750" cap="rnd">
            <a:solidFill>
              <a:srgbClr val="D94F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l42"/>
          <p:cNvSpPr/>
          <p:nvPr/>
        </p:nvSpPr>
        <p:spPr>
          <a:xfrm>
            <a:off x="3238500" y="5803900"/>
            <a:ext cx="2032000" cy="63500"/>
          </a:xfrm>
          <a:prstGeom prst="line">
            <a:avLst/>
          </a:prstGeom>
          <a:ln w="31750" cap="rnd">
            <a:solidFill>
              <a:srgbClr val="D94F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l43"/>
          <p:cNvSpPr/>
          <p:nvPr/>
        </p:nvSpPr>
        <p:spPr>
          <a:xfrm>
            <a:off x="5270500" y="5867400"/>
            <a:ext cx="2032000" cy="63500"/>
          </a:xfrm>
          <a:prstGeom prst="line">
            <a:avLst/>
          </a:prstGeom>
          <a:ln w="31750" cap="rnd">
            <a:solidFill>
              <a:srgbClr val="D94F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l44"/>
          <p:cNvSpPr/>
          <p:nvPr/>
        </p:nvSpPr>
        <p:spPr>
          <a:xfrm>
            <a:off x="7302500" y="5930900"/>
            <a:ext cx="2032000" cy="63500"/>
          </a:xfrm>
          <a:prstGeom prst="line">
            <a:avLst/>
          </a:prstGeom>
          <a:ln w="31750" cap="rnd">
            <a:solidFill>
              <a:srgbClr val="D94F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l45"/>
          <p:cNvSpPr/>
          <p:nvPr/>
        </p:nvSpPr>
        <p:spPr>
          <a:xfrm>
            <a:off x="9334500" y="5994400"/>
            <a:ext cx="2032000" cy="12700"/>
          </a:xfrm>
          <a:prstGeom prst="line">
            <a:avLst/>
          </a:prstGeom>
          <a:ln w="31750" cap="rnd">
            <a:solidFill>
              <a:srgbClr val="D94F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e46"/>
          <p:cNvSpPr/>
          <p:nvPr/>
        </p:nvSpPr>
        <p:spPr>
          <a:xfrm>
            <a:off x="1168400" y="5702300"/>
            <a:ext cx="76200" cy="76200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e47"/>
          <p:cNvSpPr/>
          <p:nvPr/>
        </p:nvSpPr>
        <p:spPr>
          <a:xfrm>
            <a:off x="3200400" y="5511800"/>
            <a:ext cx="76200" cy="76200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e48"/>
          <p:cNvSpPr/>
          <p:nvPr/>
        </p:nvSpPr>
        <p:spPr>
          <a:xfrm>
            <a:off x="5232400" y="5321300"/>
            <a:ext cx="76200" cy="76200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e49"/>
          <p:cNvSpPr/>
          <p:nvPr/>
        </p:nvSpPr>
        <p:spPr>
          <a:xfrm>
            <a:off x="7264400" y="5194300"/>
            <a:ext cx="76200" cy="76200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e50"/>
          <p:cNvSpPr/>
          <p:nvPr/>
        </p:nvSpPr>
        <p:spPr>
          <a:xfrm>
            <a:off x="9296400" y="5003800"/>
            <a:ext cx="76200" cy="76200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e51"/>
          <p:cNvSpPr/>
          <p:nvPr/>
        </p:nvSpPr>
        <p:spPr>
          <a:xfrm>
            <a:off x="11328400" y="4889500"/>
            <a:ext cx="76200" cy="76200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e52"/>
          <p:cNvSpPr/>
          <p:nvPr/>
        </p:nvSpPr>
        <p:spPr>
          <a:xfrm>
            <a:off x="1168400" y="5702300"/>
            <a:ext cx="76200" cy="76200"/>
          </a:xfrm>
          <a:prstGeom prst="ellipse">
            <a:avLst/>
          </a:prstGeom>
          <a:solidFill>
            <a:srgbClr val="D94F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e53"/>
          <p:cNvSpPr/>
          <p:nvPr/>
        </p:nvSpPr>
        <p:spPr>
          <a:xfrm>
            <a:off x="3200400" y="5765800"/>
            <a:ext cx="76200" cy="76200"/>
          </a:xfrm>
          <a:prstGeom prst="ellipse">
            <a:avLst/>
          </a:prstGeom>
          <a:solidFill>
            <a:srgbClr val="D94F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e54"/>
          <p:cNvSpPr/>
          <p:nvPr/>
        </p:nvSpPr>
        <p:spPr>
          <a:xfrm>
            <a:off x="5232400" y="5829300"/>
            <a:ext cx="76200" cy="76200"/>
          </a:xfrm>
          <a:prstGeom prst="ellipse">
            <a:avLst/>
          </a:prstGeom>
          <a:solidFill>
            <a:srgbClr val="D94F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e55"/>
          <p:cNvSpPr/>
          <p:nvPr/>
        </p:nvSpPr>
        <p:spPr>
          <a:xfrm>
            <a:off x="7264400" y="5892800"/>
            <a:ext cx="76200" cy="76200"/>
          </a:xfrm>
          <a:prstGeom prst="ellipse">
            <a:avLst/>
          </a:prstGeom>
          <a:solidFill>
            <a:srgbClr val="D94F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e56"/>
          <p:cNvSpPr/>
          <p:nvPr/>
        </p:nvSpPr>
        <p:spPr>
          <a:xfrm>
            <a:off x="9296400" y="5956300"/>
            <a:ext cx="76200" cy="76200"/>
          </a:xfrm>
          <a:prstGeom prst="ellipse">
            <a:avLst/>
          </a:prstGeom>
          <a:solidFill>
            <a:srgbClr val="D94F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e57"/>
          <p:cNvSpPr/>
          <p:nvPr/>
        </p:nvSpPr>
        <p:spPr>
          <a:xfrm>
            <a:off x="11328400" y="5969000"/>
            <a:ext cx="76200" cy="76200"/>
          </a:xfrm>
          <a:prstGeom prst="ellipse">
            <a:avLst/>
          </a:prstGeom>
          <a:solidFill>
            <a:srgbClr val="D94F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t58"/>
          <p:cNvSpPr txBox="1"/>
          <p:nvPr/>
        </p:nvSpPr>
        <p:spPr>
          <a:xfrm>
            <a:off x="8445500" y="4648200"/>
            <a:ext cx="2870200" cy="1778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r">
              <a:buNone/>
            </a:pPr>
            <a:r>
              <a:rPr lang="en-US" sz="1100" b="1" dirty="0">
                <a:solidFill>
                  <a:srgbClr val="1B3F6E"/>
                </a:solidFill>
                <a:latin typeface="Inter"/>
              </a:rPr>
              <a:t>+12,593 beds  ·  rest of Australia</a:t>
            </a:r>
          </a:p>
        </p:txBody>
      </p:sp>
      <p:sp>
        <p:nvSpPr>
          <p:cNvPr id="59" name="t59"/>
          <p:cNvSpPr txBox="1"/>
          <p:nvPr/>
        </p:nvSpPr>
        <p:spPr>
          <a:xfrm>
            <a:off x="8445500" y="6083300"/>
            <a:ext cx="2870200" cy="1778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endParaRPr lang="en-US" sz="1100" dirty="0"/>
          </a:p>
        </p:txBody>
      </p:sp>
      <p:sp>
        <p:nvSpPr>
          <p:cNvPr id="60" name="t60"/>
          <p:cNvSpPr txBox="1"/>
          <p:nvPr/>
        </p:nvSpPr>
        <p:spPr>
          <a:xfrm>
            <a:off x="5778500" y="5397500"/>
            <a:ext cx="3048000" cy="1778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r">
              <a:buNone/>
            </a:pPr>
            <a:r>
              <a:rPr lang="en-US" sz="1100" b="1" dirty="0">
                <a:solidFill>
                  <a:srgbClr val="D94F3D"/>
                </a:solidFill>
                <a:latin typeface="Inter"/>
              </a:rPr>
              <a:t>−323 beds  ·  82 crisis zones</a:t>
            </a:r>
          </a:p>
        </p:txBody>
      </p:sp>
      <p:sp>
        <p:nvSpPr>
          <p:cNvPr id="61" name="t61"/>
          <p:cNvSpPr txBox="1"/>
          <p:nvPr/>
        </p:nvSpPr>
        <p:spPr>
          <a:xfrm>
            <a:off x="609600" y="6438900"/>
            <a:ext cx="10960100" cy="1778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900" i="1" dirty="0">
                <a:solidFill>
                  <a:srgbClr val="6B7C93"/>
                </a:solidFill>
                <a:latin typeface="Inter"/>
              </a:rPr>
              <a:t>Indexed to 2019. 82 crisis SA3s collectively lost 323 places; the rest of Australia added 12,593 over the same period.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14536E-4066-1023-8822-E9109B23B1FF}"/>
              </a:ext>
            </a:extLst>
          </p:cNvPr>
          <p:cNvSpPr txBox="1"/>
          <p:nvPr/>
        </p:nvSpPr>
        <p:spPr>
          <a:xfrm>
            <a:off x="795832" y="311225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1304E"/>
                </a:solidFill>
              </a:rPr>
              <a:t>Where the </a:t>
            </a:r>
            <a:r>
              <a:rPr lang="vi-VN" b="1" dirty="0">
                <a:solidFill>
                  <a:srgbClr val="11304E"/>
                </a:solidFill>
              </a:rPr>
              <a:t>need 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01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5A6E"/>
                </a:solidFill>
                <a:latin typeface="Inter"/>
              </a:rPr>
              <a:t>CHAPTER 4 — THE TOOL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207447" y="274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11304E"/>
                </a:solidFill>
                <a:latin typeface="Inter"/>
              </a:rPr>
              <a:t>09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6E"/>
                </a:solidFill>
                <a:latin typeface="Inter"/>
              </a:rPr>
              <a:t>§ LIVE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2648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304E"/>
                </a:solidFill>
                <a:latin typeface="Montserrat"/>
              </a:rPr>
              <a:t>Not a report. </a:t>
            </a:r>
            <a:r>
              <a:rPr lang="en-US" sz="4200" b="1" i="1" dirty="0">
                <a:solidFill>
                  <a:srgbClr val="2BA39B"/>
                </a:solidFill>
                <a:latin typeface="Montserrat"/>
              </a:rPr>
              <a:t>A live decision system.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12648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A5A6E"/>
                </a:solidFill>
                <a:latin typeface="Inter"/>
              </a:rPr>
              <a:t>A Home page (Ch0) — interactive map with 3 projection scenarios, 8 city markers, and Find My Area SA3 search — opens into four advanced capabilities. Built for any user wearing any hat.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" y="2788920"/>
            <a:ext cx="5346040" cy="1645920"/>
          </a:xfrm>
          <a:prstGeom prst="rect">
            <a:avLst/>
          </a:prstGeom>
          <a:solidFill>
            <a:srgbClr val="FAF6EC"/>
          </a:solidFill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612648" y="2788920"/>
            <a:ext cx="1097280" cy="164592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12648" y="29718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D9A53B"/>
                </a:solidFill>
                <a:latin typeface="Montserrat"/>
              </a:rPr>
              <a:t>01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847088" y="3063240"/>
            <a:ext cx="392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E"/>
                </a:solidFill>
                <a:latin typeface="Inter"/>
              </a:rPr>
              <a:t>Context-Aware Filtering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47088" y="3566160"/>
            <a:ext cx="392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6E"/>
                </a:solidFill>
                <a:latin typeface="Inter"/>
              </a:rPr>
              <a:t>Sidebar rewrites every chart and callout across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3008" y="2788920"/>
            <a:ext cx="4178300" cy="1645920"/>
          </a:xfrm>
          <a:prstGeom prst="rect">
            <a:avLst/>
          </a:prstGeom>
          <a:solidFill>
            <a:srgbClr val="FAF6EC"/>
          </a:solidFill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6233008" y="2788920"/>
            <a:ext cx="1097280" cy="164592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233008" y="29718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D9A53B"/>
                </a:solidFill>
                <a:latin typeface="Montserrat"/>
              </a:rPr>
              <a:t>02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7467448" y="3063240"/>
            <a:ext cx="275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E"/>
                </a:solidFill>
                <a:latin typeface="Inter"/>
              </a:rPr>
              <a:t>Visual Tooltips &amp; Modals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67448" y="3566160"/>
            <a:ext cx="275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6E"/>
                </a:solidFill>
                <a:latin typeface="Inter"/>
              </a:rPr>
              <a:t>Click any SA3 — drill into pressure, demand, ownership, demographics.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" y="4663440"/>
            <a:ext cx="5346040" cy="1645920"/>
          </a:xfrm>
          <a:prstGeom prst="rect">
            <a:avLst/>
          </a:prstGeom>
          <a:solidFill>
            <a:srgbClr val="FAF6EC"/>
          </a:solidFill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12648" y="4663440"/>
            <a:ext cx="1097280" cy="164592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12648" y="484632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D9A53B"/>
                </a:solidFill>
                <a:latin typeface="Montserrat"/>
              </a:rPr>
              <a:t>03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1847088" y="4937760"/>
            <a:ext cx="392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E"/>
                </a:solidFill>
                <a:latin typeface="Inter"/>
              </a:rPr>
              <a:t>Narrative Scrollytelling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47088" y="5440680"/>
            <a:ext cx="392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6E"/>
                </a:solidFill>
                <a:latin typeface="Inter"/>
              </a:rPr>
              <a:t>A 5-chapter detective arc — each section unfolds as the analyst's reveal.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33008" y="4663440"/>
            <a:ext cx="4178300" cy="1645920"/>
          </a:xfrm>
          <a:prstGeom prst="rect">
            <a:avLst/>
          </a:prstGeom>
          <a:solidFill>
            <a:srgbClr val="FAF6EC"/>
          </a:solidFill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6233008" y="4663440"/>
            <a:ext cx="1097280" cy="164592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6233008" y="484632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D9A53B"/>
                </a:solidFill>
                <a:latin typeface="Montserrat"/>
              </a:rPr>
              <a:t>04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7467448" y="4937760"/>
            <a:ext cx="275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E"/>
                </a:solidFill>
                <a:latin typeface="Inter"/>
              </a:rPr>
              <a:t>What-If Parameterisation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67448" y="5440680"/>
            <a:ext cx="275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6E"/>
                </a:solidFill>
                <a:latin typeface="Inter"/>
              </a:rPr>
              <a:t>Ch4 RN-minutes slider · Ch5 population scenario radio · live recompute.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" y="6583680"/>
            <a:ext cx="54864" cy="54864"/>
          </a:xfrm>
          <a:prstGeom prst="ellipse">
            <a:avLst/>
          </a:prstGeom>
          <a:solidFill>
            <a:srgbClr val="11304E"/>
          </a:solidFill>
          <a:ln w="12700">
            <a:solidFill>
              <a:srgbClr val="1130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DASHBOARD · INTERACTIVE · FILTERABLE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07447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09 / 11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45FD8DE-7207-B38F-9C1D-879C1AF4C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400" y="3175000"/>
            <a:ext cx="965200" cy="9652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4AA6E1E-BFCD-4C47-ABEF-08E8BF54639E}"/>
              </a:ext>
            </a:extLst>
          </p:cNvPr>
          <p:cNvSpPr txBox="1"/>
          <p:nvPr/>
        </p:nvSpPr>
        <p:spPr>
          <a:xfrm>
            <a:off x="10414000" y="4216400"/>
            <a:ext cx="127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ctr">
              <a:buNone/>
            </a:pPr>
            <a:r>
              <a:rPr lang="en-AU" sz="1000" b="1" kern="0" spc="200" dirty="0">
                <a:solidFill>
                  <a:srgbClr val="2BA39B"/>
                </a:solidFill>
                <a:latin typeface="Inter"/>
              </a:rPr>
              <a:t>SCAN · LIVE STREAMLIT</a:t>
            </a:r>
          </a:p>
        </p:txBody>
      </p:sp>
    </p:spTree>
    <p:extLst>
      <p:ext uri="{BB962C8B-B14F-4D97-AF65-F5344CB8AC3E}">
        <p14:creationId xmlns:p14="http://schemas.microsoft.com/office/powerpoint/2010/main" val="3268042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5A6E"/>
                </a:solidFill>
                <a:latin typeface="Inter"/>
              </a:rPr>
              <a:t>CHAPTER 5 — THE FORECAST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207447" y="274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11304E"/>
                </a:solidFill>
                <a:latin typeface="Inter"/>
              </a:rPr>
              <a:t>10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6E"/>
                </a:solidFill>
                <a:latin typeface="Inter"/>
              </a:rPr>
              <a:t>§ FORWARD PROJECTION · POPULATION-ONLY FORECAST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2648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304E"/>
                </a:solidFill>
                <a:latin typeface="Montserrat"/>
              </a:rPr>
              <a:t>If the trend holds, where does </a:t>
            </a:r>
            <a:r>
              <a:rPr lang="en-US" sz="4200" b="1" i="1" dirty="0">
                <a:solidFill>
                  <a:srgbClr val="11304E"/>
                </a:solidFill>
                <a:latin typeface="Montserrat"/>
              </a:rPr>
              <a:t>2025</a:t>
            </a:r>
            <a:r>
              <a:rPr lang="en-US" sz="4200" b="1" dirty="0">
                <a:solidFill>
                  <a:srgbClr val="11304E"/>
                </a:solidFill>
                <a:latin typeface="Montserrat"/>
              </a:rPr>
              <a:t> land?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12648" y="2194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5A6E"/>
                </a:solidFill>
                <a:latin typeface="Inter"/>
              </a:rPr>
              <a:t>Three population scenarios · supply held at real 2025 · </a:t>
            </a:r>
            <a:r>
              <a:rPr lang="en-US" sz="1700" b="1" i="1" dirty="0">
                <a:solidFill>
                  <a:srgbClr val="D85A4E"/>
                </a:solidFill>
                <a:latin typeface="Inter"/>
              </a:rPr>
              <a:t>the gap widens.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2648" y="2788920"/>
            <a:ext cx="516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11304E"/>
                </a:solidFill>
                <a:latin typeface="Montserrat"/>
              </a:rPr>
              <a:t>2024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984248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4A5A6E"/>
                </a:solidFill>
                <a:latin typeface="Inter"/>
              </a:rPr>
              <a:t>ACTUAL · OBSERVED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3474720"/>
            <a:ext cx="5163160" cy="1188720"/>
          </a:xfrm>
          <a:prstGeom prst="rect">
            <a:avLst/>
          </a:prstGeom>
          <a:solidFill>
            <a:srgbClr val="FAF6EC"/>
          </a:solidFill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886968" y="3611880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85A4E"/>
                </a:solidFill>
                <a:latin typeface="Montserrat"/>
              </a:rPr>
              <a:t>58</a:t>
            </a:r>
            <a:r>
              <a:rPr lang="en-US" sz="2800" dirty="0">
                <a:solidFill>
                  <a:srgbClr val="11304E"/>
                </a:solidFill>
                <a:latin typeface="Montserrat"/>
              </a:rPr>
              <a:t>  crisis-zone SA3s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86968" y="4160520"/>
            <a:ext cx="470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E"/>
                </a:solidFill>
                <a:latin typeface="Inter"/>
              </a:rPr>
              <a:t>Care Gap &gt; national average; supply-demand ratio &gt; 1.0.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58688" y="352044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85A4E"/>
                </a:solidFill>
                <a:latin typeface="Montserrat"/>
              </a:rPr>
              <a:t>▶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15888" y="2788920"/>
            <a:ext cx="516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D85A4E"/>
                </a:solidFill>
                <a:latin typeface="Montserrat"/>
              </a:rPr>
              <a:t>2025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7787488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D85A4E"/>
                </a:solidFill>
                <a:latin typeface="Inter"/>
              </a:rPr>
              <a:t>PROJECTED · BASELINE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15888" y="3474720"/>
            <a:ext cx="5163160" cy="1188720"/>
          </a:xfrm>
          <a:prstGeom prst="rect">
            <a:avLst/>
          </a:prstGeom>
          <a:solidFill>
            <a:srgbClr val="FAF6EC"/>
          </a:solidFill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6690208" y="3611880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85A4E"/>
                </a:solidFill>
                <a:latin typeface="Montserrat"/>
              </a:rPr>
              <a:t>&gt;58</a:t>
            </a:r>
            <a:r>
              <a:rPr lang="en-US" sz="2800" dirty="0">
                <a:solidFill>
                  <a:srgbClr val="11304E"/>
                </a:solidFill>
                <a:latin typeface="Montserrat"/>
              </a:rPr>
              <a:t>  crisis-zone SA3s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90208" y="4160520"/>
            <a:ext cx="470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E"/>
                </a:solidFill>
                <a:latin typeface="Inter"/>
              </a:rPr>
              <a:t>More SA3s worsen than improve under the baseline trend.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" y="4937760"/>
            <a:ext cx="35335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85A4E"/>
                </a:solidFill>
                <a:latin typeface="Inter"/>
              </a:rPr>
              <a:t>BASELINE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" y="5212080"/>
            <a:ext cx="35335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304E"/>
                </a:solidFill>
                <a:latin typeface="Inter"/>
              </a:rPr>
              <a:t>More SA3s worsen than improve on Care Gap Index.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29074" y="4937760"/>
            <a:ext cx="35335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85A4E"/>
                </a:solidFill>
                <a:latin typeface="Inter"/>
              </a:rPr>
              <a:t>AGGRESSIVE +4%/Y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29074" y="5212080"/>
            <a:ext cx="35335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304E"/>
                </a:solidFill>
                <a:latin typeface="Inter"/>
              </a:rPr>
              <a:t>Crisis-zone count expands beyond the 58 we see today.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5501" y="4937760"/>
            <a:ext cx="35335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85A4E"/>
                </a:solidFill>
                <a:latin typeface="Inter"/>
              </a:rPr>
              <a:t>TRANSPARENCY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5501" y="5212080"/>
            <a:ext cx="35335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304E"/>
                </a:solidFill>
                <a:latin typeface="Inter"/>
              </a:rPr>
              <a:t>Only pop_65_plus is projected — quality, supply, home-care all use real data.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" y="5943600"/>
            <a:ext cx="10966399" cy="0"/>
          </a:xfrm>
          <a:prstGeom prst="line">
            <a:avLst/>
          </a:prstGeom>
          <a:noFill/>
          <a:ln w="9525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658368" y="5989320"/>
            <a:ext cx="3564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7A8595"/>
                </a:solidFill>
                <a:latin typeface="Inter"/>
              </a:rPr>
              <a:t>SA3s IMPROVED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8368" y="6153912"/>
            <a:ext cx="35640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A39B"/>
                </a:solidFill>
                <a:latin typeface="Inter"/>
              </a:rPr>
              <a:t>fewer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22394" y="5989320"/>
            <a:ext cx="0" cy="411480"/>
          </a:xfrm>
          <a:prstGeom prst="line">
            <a:avLst/>
          </a:prstGeom>
          <a:noFill/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4313834" y="5989320"/>
            <a:ext cx="3564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7A8595"/>
                </a:solidFill>
                <a:latin typeface="Inter"/>
              </a:rPr>
              <a:t>SA3s WORSENED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13834" y="6153912"/>
            <a:ext cx="35640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5A4E"/>
                </a:solidFill>
                <a:latin typeface="Inter"/>
              </a:rPr>
              <a:t>more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877861" y="5989320"/>
            <a:ext cx="0" cy="411480"/>
          </a:xfrm>
          <a:prstGeom prst="line">
            <a:avLst/>
          </a:prstGeom>
          <a:noFill/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7969301" y="5989320"/>
            <a:ext cx="3564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7A8595"/>
                </a:solidFill>
                <a:latin typeface="Inter"/>
              </a:rPr>
              <a:t>NET CHANGE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969301" y="6153912"/>
            <a:ext cx="35640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304E"/>
                </a:solidFill>
                <a:latin typeface="Inter"/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2648" y="6583680"/>
            <a:ext cx="54864" cy="54864"/>
          </a:xfrm>
          <a:prstGeom prst="ellipse">
            <a:avLst/>
          </a:prstGeom>
          <a:solidFill>
            <a:srgbClr val="11304E"/>
          </a:solidFill>
          <a:ln w="12700">
            <a:solidFill>
              <a:srgbClr val="1130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TOP-10 MOVERS — THE BUILD LIST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207447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10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53822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74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5A6E"/>
                </a:solidFill>
                <a:latin typeface="Inter"/>
              </a:rPr>
              <a:t>CLOSING · THE MANDATE EFFECT &amp; THE MOVE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207447" y="274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11304E"/>
                </a:solidFill>
                <a:latin typeface="Inter"/>
              </a:rPr>
              <a:t>11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6E"/>
                </a:solidFill>
                <a:latin typeface="Inter"/>
              </a:rPr>
              <a:t>§ CHAPTER 4 — VERDICT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2648" y="12801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11304E"/>
                </a:solidFill>
                <a:latin typeface="Montserrat"/>
              </a:rPr>
              <a:t>Better on paper.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11304E"/>
                </a:solidFill>
                <a:latin typeface="Montserrat"/>
              </a:rPr>
              <a:t>Not yet in </a:t>
            </a:r>
            <a:r>
              <a:rPr lang="en-US" sz="4400" b="1" dirty="0">
                <a:solidFill>
                  <a:srgbClr val="2BA39B"/>
                </a:solidFill>
                <a:latin typeface="Montserrat"/>
              </a:rPr>
              <a:t>lives.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12648" y="3017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A5A6E"/>
                </a:solidFill>
                <a:latin typeface="Inter"/>
              </a:rPr>
              <a:t>The Mandate Effect — October 2023.</a:t>
            </a:r>
            <a:endParaRPr lang="en-US" sz="1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12648" y="3520440"/>
          <a:ext cx="5943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12648" y="62636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11E"/>
                </a:solidFill>
                <a:latin typeface="Inter"/>
              </a:rPr>
              <a:t>+0.25★ POST-MANDATE  ·  3.40 → 3.65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30568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A39B"/>
                </a:solidFill>
                <a:latin typeface="Inter"/>
              </a:rPr>
              <a:t>+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242048" y="3538728"/>
            <a:ext cx="4291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304E"/>
                </a:solidFill>
                <a:latin typeface="Inter"/>
              </a:rPr>
              <a:t>Quality </a:t>
            </a:r>
            <a:r>
              <a:rPr lang="en-US" sz="1100" b="1" dirty="0">
                <a:solidFill>
                  <a:srgbClr val="2BA39B"/>
                </a:solidFill>
                <a:latin typeface="Inter"/>
              </a:rPr>
              <a:t>+0.25★</a:t>
            </a:r>
            <a:r>
              <a:rPr lang="en-US" sz="1100" dirty="0">
                <a:solidFill>
                  <a:srgbClr val="11304E"/>
                </a:solidFill>
                <a:latin typeface="Inter"/>
              </a:rPr>
              <a:t> nationally (3.40 → 3.65). Staffing +0.51★. Compliance 26.1% → 65.2%.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30568" y="4023360"/>
            <a:ext cx="4748479" cy="0"/>
          </a:xfrm>
          <a:prstGeom prst="line">
            <a:avLst/>
          </a:prstGeom>
          <a:noFill/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6830568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A5A6E"/>
                </a:solidFill>
                <a:latin typeface="Inter"/>
              </a:rPr>
              <a:t>~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242048" y="4087368"/>
            <a:ext cx="4291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304E"/>
                </a:solidFill>
                <a:latin typeface="Inter"/>
              </a:rPr>
              <a:t>Quality Measures (resident health): </a:t>
            </a:r>
            <a:r>
              <a:rPr lang="en-US" sz="1100" b="1" dirty="0">
                <a:solidFill>
                  <a:srgbClr val="4A5A6E"/>
                </a:solidFill>
                <a:latin typeface="Inter"/>
              </a:rPr>
              <a:t>−0.015★</a:t>
            </a:r>
            <a:r>
              <a:rPr lang="en-US" sz="1100" dirty="0">
                <a:solidFill>
                  <a:srgbClr val="11304E"/>
                </a:solidFill>
                <a:latin typeface="Inter"/>
              </a:rPr>
              <a:t> — input fixed, outcomes flat.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30568" y="4572000"/>
            <a:ext cx="4748479" cy="0"/>
          </a:xfrm>
          <a:prstGeom prst="line">
            <a:avLst/>
          </a:prstGeom>
          <a:noFill/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6830568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85A4E"/>
                </a:solidFill>
                <a:latin typeface="Inter"/>
              </a:rPr>
              <a:t>−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242048" y="4636008"/>
            <a:ext cx="4291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304E"/>
                </a:solidFill>
                <a:latin typeface="Inter"/>
              </a:rPr>
              <a:t>For-profit compliance </a:t>
            </a:r>
            <a:r>
              <a:rPr lang="en-US" sz="1100" b="1" dirty="0">
                <a:solidFill>
                  <a:srgbClr val="D85A4E"/>
                </a:solidFill>
                <a:latin typeface="Inter"/>
              </a:rPr>
              <a:t>50%</a:t>
            </a:r>
            <a:r>
              <a:rPr lang="en-US" sz="1100" dirty="0">
                <a:solidFill>
                  <a:srgbClr val="11304E"/>
                </a:solidFill>
                <a:latin typeface="Inter"/>
              </a:rPr>
              <a:t> vs Government 89% — a </a:t>
            </a:r>
            <a:r>
              <a:rPr lang="en-US" sz="1100" b="1" dirty="0">
                <a:solidFill>
                  <a:srgbClr val="D85A4E"/>
                </a:solidFill>
                <a:latin typeface="Inter"/>
              </a:rPr>
              <a:t>39-point gap</a:t>
            </a:r>
            <a:r>
              <a:rPr lang="en-US" sz="1100" dirty="0">
                <a:solidFill>
                  <a:srgbClr val="11304E"/>
                </a:solidFill>
                <a:latin typeface="Inter"/>
              </a:rPr>
              <a:t> the mandate hasn't closed.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30568" y="5120640"/>
            <a:ext cx="4748479" cy="0"/>
          </a:xfrm>
          <a:prstGeom prst="line">
            <a:avLst/>
          </a:prstGeom>
          <a:noFill/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6830568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A39B"/>
                </a:solidFill>
                <a:latin typeface="Inter"/>
              </a:rPr>
              <a:t>▲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242048" y="5184648"/>
            <a:ext cx="4291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304E"/>
                </a:solidFill>
                <a:latin typeface="Inter"/>
              </a:rPr>
              <a:t>NT rose from </a:t>
            </a:r>
            <a:r>
              <a:rPr lang="en-US" sz="1100" b="1" dirty="0">
                <a:solidFill>
                  <a:srgbClr val="2BA39B"/>
                </a:solidFill>
                <a:latin typeface="Inter"/>
              </a:rPr>
              <a:t>rank 4 → rank 1</a:t>
            </a:r>
            <a:r>
              <a:rPr lang="en-US" sz="1100" dirty="0">
                <a:solidFill>
                  <a:srgbClr val="11304E"/>
                </a:solidFill>
                <a:latin typeface="Inter"/>
              </a:rPr>
              <a:t> (</a:t>
            </a:r>
            <a:r>
              <a:rPr lang="en-US" sz="1100" b="1" dirty="0">
                <a:solidFill>
                  <a:srgbClr val="2BA39B"/>
                </a:solidFill>
                <a:latin typeface="Inter"/>
              </a:rPr>
              <a:t>+0.35★</a:t>
            </a:r>
            <a:r>
              <a:rPr lang="en-US" sz="1100" dirty="0">
                <a:solidFill>
                  <a:srgbClr val="11304E"/>
                </a:solidFill>
                <a:latin typeface="Inter"/>
              </a:rPr>
              <a:t>) — largest state-level improvement post-mandate.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30568" y="5669280"/>
            <a:ext cx="4748479" cy="0"/>
          </a:xfrm>
          <a:prstGeom prst="line">
            <a:avLst/>
          </a:prstGeom>
          <a:noFill/>
          <a:ln w="6350">
            <a:solidFill>
              <a:srgbClr val="D8D2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8"/>
          <p:cNvSpPr/>
          <p:nvPr/>
        </p:nvSpPr>
        <p:spPr>
          <a:xfrm>
            <a:off x="6830568" y="5852160"/>
            <a:ext cx="4748479" cy="594360"/>
          </a:xfrm>
          <a:prstGeom prst="rect">
            <a:avLst/>
          </a:prstGeom>
          <a:solidFill>
            <a:srgbClr val="11304E"/>
          </a:solidFill>
          <a:ln w="12700">
            <a:solidFill>
              <a:srgbClr val="1130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7013448" y="5897880"/>
            <a:ext cx="34189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F6EC"/>
                </a:solidFill>
                <a:latin typeface="Inter"/>
              </a:rPr>
              <a:t>Build NFP capacity in the </a:t>
            </a:r>
            <a:r>
              <a:rPr lang="en-US" sz="1300" b="1" dirty="0">
                <a:solidFill>
                  <a:srgbClr val="D9A53B"/>
                </a:solidFill>
                <a:latin typeface="Inter"/>
              </a:rPr>
              <a:t>82 crisis zones.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AF6EC"/>
                </a:solidFill>
                <a:latin typeface="Inter"/>
              </a:rPr>
              <a:t>Start with the </a:t>
            </a:r>
            <a:r>
              <a:rPr lang="en-US" sz="1300" b="1" dirty="0">
                <a:solidFill>
                  <a:srgbClr val="D9A53B"/>
                </a:solidFill>
                <a:latin typeface="Inter"/>
              </a:rPr>
              <a:t>top-10 movers.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249473" y="5852160"/>
            <a:ext cx="12381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9A53B"/>
                </a:solidFill>
                <a:latin typeface="Inter"/>
              </a:rPr>
              <a:t>▸ THANK YOU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2648" y="6583680"/>
            <a:ext cx="54864" cy="54864"/>
          </a:xfrm>
          <a:prstGeom prst="ellipse">
            <a:avLst/>
          </a:prstGeom>
          <a:solidFill>
            <a:srgbClr val="11304E"/>
          </a:solidFill>
          <a:ln w="12700">
            <a:solidFill>
              <a:srgbClr val="11304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2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DVN AT3 · UTS MDSI · AUTUMN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207447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4A5A6E"/>
                </a:solidFill>
                <a:latin typeface="Inter"/>
              </a:rPr>
              <a:t>11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58023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EF02614-7C11-43EA-B1AB-8B9B26E92C63}"/>
              </a:ext>
            </a:extLst>
          </p:cNvPr>
          <p:cNvSpPr/>
          <p:nvPr/>
        </p:nvSpPr>
        <p:spPr>
          <a:xfrm>
            <a:off x="609600" y="279400"/>
            <a:ext cx="406400" cy="25400"/>
          </a:xfrm>
          <a:prstGeom prst="rect">
            <a:avLst/>
          </a:prstGeom>
          <a:solidFill>
            <a:srgbClr val="2BA39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C7D89F-EF25-405C-A23A-2D3DE30ED363}"/>
              </a:ext>
            </a:extLst>
          </p:cNvPr>
          <p:cNvSpPr txBox="1"/>
          <p:nvPr/>
        </p:nvSpPr>
        <p:spPr>
          <a:xfrm>
            <a:off x="1117600" y="177800"/>
            <a:ext cx="6858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en-AU" sz="1000" b="1" kern="0" spc="200" dirty="0">
                <a:solidFill>
                  <a:srgbClr val="4A5A6E"/>
                </a:solidFill>
                <a:latin typeface="Inter"/>
              </a:rPr>
              <a:t>CLOSING · THANK YOU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6E179D-A0D4-4C89-8D76-618131555A6C}"/>
              </a:ext>
            </a:extLst>
          </p:cNvPr>
          <p:cNvSpPr txBox="1"/>
          <p:nvPr/>
        </p:nvSpPr>
        <p:spPr>
          <a:xfrm>
            <a:off x="10210800" y="177800"/>
            <a:ext cx="13716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r">
              <a:buNone/>
            </a:pPr>
            <a:r>
              <a:rPr lang="en-AU" sz="1100" b="1" kern="0" spc="200" dirty="0">
                <a:solidFill>
                  <a:srgbClr val="11304E"/>
                </a:solidFill>
                <a:latin typeface="Inter"/>
              </a:rPr>
              <a:t>12 / 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FCD8E4-0BEA-4213-B246-EEF658AE7EB8}"/>
              </a:ext>
            </a:extLst>
          </p:cNvPr>
          <p:cNvSpPr txBox="1"/>
          <p:nvPr/>
        </p:nvSpPr>
        <p:spPr>
          <a:xfrm>
            <a:off x="609600" y="965200"/>
            <a:ext cx="54864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en-AU" sz="1000" b="1" kern="0" spc="300" dirty="0">
                <a:solidFill>
                  <a:srgbClr val="4A5A6E"/>
                </a:solidFill>
                <a:latin typeface="Inter"/>
              </a:rPr>
              <a:t>§ END OF DECK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B25A88-6D13-4953-8B10-E7DCB215C59D}"/>
              </a:ext>
            </a:extLst>
          </p:cNvPr>
          <p:cNvSpPr txBox="1"/>
          <p:nvPr/>
        </p:nvSpPr>
        <p:spPr>
          <a:xfrm>
            <a:off x="609600" y="1905000"/>
            <a:ext cx="109728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en-AU" sz="6600" b="1" i="1" dirty="0">
                <a:solidFill>
                  <a:srgbClr val="11304E"/>
                </a:solidFill>
                <a:latin typeface="Montserrat"/>
              </a:rPr>
              <a:t>Thank you</a:t>
            </a:r>
            <a:r>
              <a:rPr lang="en-AU" sz="6600" b="1" i="1" dirty="0">
                <a:solidFill>
                  <a:srgbClr val="2BA39B"/>
                </a:solidFill>
                <a:latin typeface="Montserrat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517F3F-F4A2-40ED-89DE-56679DC060BD}"/>
              </a:ext>
            </a:extLst>
          </p:cNvPr>
          <p:cNvSpPr txBox="1"/>
          <p:nvPr/>
        </p:nvSpPr>
        <p:spPr>
          <a:xfrm>
            <a:off x="609600" y="3048000"/>
            <a:ext cx="109728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en-AU" sz="2400" dirty="0">
                <a:solidFill>
                  <a:srgbClr val="4A5A6E"/>
                </a:solidFill>
                <a:latin typeface="Inter"/>
              </a:rPr>
              <a:t>Happy to take your questions.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975F96-61AB-40B7-A2FE-DDCCEB778F57}"/>
              </a:ext>
            </a:extLst>
          </p:cNvPr>
          <p:cNvSpPr txBox="1"/>
          <p:nvPr/>
        </p:nvSpPr>
        <p:spPr>
          <a:xfrm>
            <a:off x="736600" y="6489700"/>
            <a:ext cx="7315200" cy="2308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en-AU" sz="900" kern="0" spc="200" dirty="0">
                <a:solidFill>
                  <a:srgbClr val="4A5A6E"/>
                </a:solidFill>
                <a:latin typeface="Inter"/>
              </a:rPr>
              <a:t>DVN AT3 · UTS MDSI · AUTUMN 2026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CD94C86-BD44-4149-A3F2-C34AAD18E612}"/>
              </a:ext>
            </a:extLst>
          </p:cNvPr>
          <p:cNvSpPr/>
          <p:nvPr/>
        </p:nvSpPr>
        <p:spPr>
          <a:xfrm>
            <a:off x="609600" y="6578600"/>
            <a:ext cx="50800" cy="50800"/>
          </a:xfrm>
          <a:prstGeom prst="ellipse">
            <a:avLst/>
          </a:prstGeom>
          <a:solidFill>
            <a:srgbClr val="2BA39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6C3721-FEFB-4D42-87D9-2C4B0F04A8B4}"/>
              </a:ext>
            </a:extLst>
          </p:cNvPr>
          <p:cNvSpPr txBox="1"/>
          <p:nvPr/>
        </p:nvSpPr>
        <p:spPr>
          <a:xfrm>
            <a:off x="10210800" y="6489700"/>
            <a:ext cx="1371600" cy="2308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r">
              <a:buNone/>
            </a:pPr>
            <a:r>
              <a:rPr lang="en-AU" sz="900" kern="0" spc="200" dirty="0">
                <a:solidFill>
                  <a:srgbClr val="4A5A6E"/>
                </a:solidFill>
                <a:latin typeface="Inter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311235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585525499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0798870-CF0B-4B6A-8070-D95889723198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63f943f0-11d6-4aae-ad6f-95826a396a9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1308</Words>
  <Application>Microsoft Office PowerPoint</Application>
  <PresentationFormat>Widescreen</PresentationFormat>
  <Paragraphs>261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Inter</vt:lpstr>
      <vt:lpstr>Montserrat</vt:lpstr>
      <vt:lpstr>Office Theme [1778585525499]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Australia's Aged Care Gap</dc:title>
  <dc:subject>PptxGenJS Presentation</dc:subject>
  <dc:creator>DVN · AT3 · UTS MDSI</dc:creator>
  <cp:lastModifiedBy>quan pham</cp:lastModifiedBy>
  <cp:revision>8</cp:revision>
  <dcterms:created xsi:type="dcterms:W3CDTF">2026-05-12T11:05:54Z</dcterms:created>
  <dcterms:modified xsi:type="dcterms:W3CDTF">2026-05-12T19:23:17Z</dcterms:modified>
</cp:coreProperties>
</file>